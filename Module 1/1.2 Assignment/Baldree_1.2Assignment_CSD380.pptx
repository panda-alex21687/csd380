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outlineView">
  <p:normalViewPr showOutlineIcons="0">
    <p:restoredLeft sz="34597"/>
    <p:restoredTop sz="86443"/>
  </p:normalViewPr>
  <p:slideViewPr>
    <p:cSldViewPr snapToGrid="0" snapToObjects="1">
      <p:cViewPr varScale="1">
        <p:scale>
          <a:sx n="93" d="100"/>
          <a:sy n="93" d="100"/>
        </p:scale>
        <p:origin x="216" y="50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83975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 topic: The Technology Value Stream. Course prompt references the course textbook pages 9–10 for lead time, processing time, common scenario, and DevOps ideal.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Citations: Red Green Refactor summarizes The DevOps Handbook technology value stream as converting a business hypothesis into a technology-enabled service that delivers customer value. DORA value stream mapping guidance supports mapping from code commit to production deployment.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Citations: Course textbook p. 9 as cited in prompt. Red Green Refactor lines 81–84 describe lead time and process time. DORA defines change lead time from commit to deployment.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Citations: Course textbook p. 10 as cited in prompt. Red Green Refactor describes long deployment lead times and heroics. DORA VSM guide emphasizes capturing wait times, handoffs, and bottlenecks.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Citations: Readingraphics lines 84–90 summarize flow principles such as limiting WIP, reducing batch sizes, reducing handoffs, removing bottlenecks and waste. DORA VSM guidance emphasizes identifying bottlenecks and quantifying wait times.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graphic compares the common scenario of lead times requiring months with the DevOps ideal of minutes. It is based on the course prompt/textbook pages 9–10 and DORA value stream mapping guidance.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Citations: Red Green Refactor lines 91–96 summarize the DevOps ideal as fast constant feedback, small code changes, automated/exploratory testing, deployment into production, modular architecture, and lead time measured in minutes/hours. Google Cloud Four Keys supports measuring deployment frequency and lead time.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Citations: DORA defines change lead time, deployment frequency, failed deployment recovery time, change fail rate, and deployment rework rate. Google Cloud Four Keys identifies deployment frequency, lead time for changes, change failure rate, and time to restore service. DORA VSM guide recommends mapping steps, wait times, handoffs, bottlenecks, and tracking metrics.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the student perspective / finding. It is grounded in the course textbook pages 9–10 and the cited DORA/Google Cloud materials on lead time, flow, and delivery metrics.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reference slide.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B1220"/>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ora.dev/guides/dora-metrics/" TargetMode="External"/><Relationship Id="rId7" Type="http://schemas.openxmlformats.org/officeDocument/2006/relationships/hyperlink" Target="https://readingraphics.com/book-summary-the-devops-handbook/"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red-green-refactor.com/2020/11/04/book-club-the-devops-handbook-chapter-1-agile-continuous-delivery-and-the-three-ways/" TargetMode="External"/><Relationship Id="rId5" Type="http://schemas.openxmlformats.org/officeDocument/2006/relationships/hyperlink" Target="https://cloud.google.com/blog/products/devops-sre/using-the-four-keys-to-measure-your-devops-performance" TargetMode="External"/><Relationship Id="rId4" Type="http://schemas.openxmlformats.org/officeDocument/2006/relationships/hyperlink" Target="https://dora.dev/guides/value-stream-management/"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502920" y="6291072"/>
            <a:ext cx="11155680" cy="0"/>
          </a:xfrm>
          <a:prstGeom prst="line">
            <a:avLst/>
          </a:prstGeom>
          <a:noFill/>
          <a:ln w="12700">
            <a:solidFill>
              <a:srgbClr val="334155"/>
            </a:solidFill>
            <a:prstDash val="solid"/>
          </a:ln>
        </p:spPr>
        <p:txBody>
          <a:bodyPr/>
          <a:lstStyle/>
          <a:p>
            <a:endParaRPr lang="en-US"/>
          </a:p>
        </p:txBody>
      </p:sp>
      <p:sp>
        <p:nvSpPr>
          <p:cNvPr id="3" name="Text 1"/>
          <p:cNvSpPr/>
          <p:nvPr/>
        </p:nvSpPr>
        <p:spPr>
          <a:xfrm>
            <a:off x="658368" y="1051560"/>
            <a:ext cx="7315200" cy="1417320"/>
          </a:xfrm>
          <a:prstGeom prst="rect">
            <a:avLst/>
          </a:prstGeom>
          <a:noFill/>
          <a:ln/>
        </p:spPr>
        <p:txBody>
          <a:bodyPr wrap="square" lIns="0" tIns="0" rIns="0" bIns="0" rtlCol="0" anchor="ctr"/>
          <a:lstStyle/>
          <a:p>
            <a:pPr marL="0" indent="0">
              <a:buNone/>
            </a:pPr>
            <a:r>
              <a:rPr lang="en-US" sz="4700" b="1" dirty="0">
                <a:solidFill>
                  <a:srgbClr val="F8FAFC"/>
                </a:solidFill>
                <a:latin typeface="Aptos Display" pitchFamily="34" charset="0"/>
                <a:ea typeface="Aptos Display" pitchFamily="34" charset="-122"/>
                <a:cs typeface="Aptos Display" pitchFamily="34" charset="-120"/>
              </a:rPr>
              <a:t>The Technology</a:t>
            </a:r>
            <a:endParaRPr lang="en-US" sz="4700" dirty="0"/>
          </a:p>
          <a:p>
            <a:pPr marL="0" indent="0">
              <a:buNone/>
            </a:pPr>
            <a:r>
              <a:rPr lang="en-US" sz="4700" b="1" dirty="0">
                <a:solidFill>
                  <a:srgbClr val="F8FAFC"/>
                </a:solidFill>
                <a:latin typeface="Aptos Display" pitchFamily="34" charset="0"/>
                <a:ea typeface="Aptos Display" pitchFamily="34" charset="-122"/>
                <a:cs typeface="Aptos Display" pitchFamily="34" charset="-120"/>
              </a:rPr>
              <a:t>Value Stream</a:t>
            </a:r>
            <a:endParaRPr lang="en-US" sz="4700" dirty="0"/>
          </a:p>
        </p:txBody>
      </p:sp>
      <p:sp>
        <p:nvSpPr>
          <p:cNvPr id="4" name="Text 2"/>
          <p:cNvSpPr/>
          <p:nvPr/>
        </p:nvSpPr>
        <p:spPr>
          <a:xfrm>
            <a:off x="694944" y="2743200"/>
            <a:ext cx="7040880" cy="365760"/>
          </a:xfrm>
          <a:prstGeom prst="rect">
            <a:avLst/>
          </a:prstGeom>
          <a:noFill/>
          <a:ln/>
        </p:spPr>
        <p:txBody>
          <a:bodyPr wrap="square" lIns="0" tIns="0" rIns="0" bIns="0" rtlCol="0" anchor="ctr"/>
          <a:lstStyle/>
          <a:p>
            <a:pPr marL="0" indent="0">
              <a:buNone/>
            </a:pPr>
            <a:r>
              <a:rPr lang="en-US" sz="1800" dirty="0">
                <a:solidFill>
                  <a:srgbClr val="CBD5E1"/>
                </a:solidFill>
              </a:rPr>
              <a:t>How DevOps shortens the path from code change to customer value</a:t>
            </a:r>
            <a:endParaRPr lang="en-US" sz="1800" dirty="0"/>
          </a:p>
        </p:txBody>
      </p:sp>
      <p:sp>
        <p:nvSpPr>
          <p:cNvPr id="5" name="Text 3"/>
          <p:cNvSpPr/>
          <p:nvPr/>
        </p:nvSpPr>
        <p:spPr>
          <a:xfrm>
            <a:off x="694944" y="3273552"/>
            <a:ext cx="4297680" cy="329184"/>
          </a:xfrm>
          <a:prstGeom prst="rect">
            <a:avLst/>
          </a:prstGeom>
          <a:solidFill>
            <a:srgbClr val="22D3EE"/>
          </a:solidFill>
          <a:ln>
            <a:solidFill>
              <a:srgbClr val="22D3EE">
                <a:alpha val="0"/>
              </a:srgbClr>
            </a:solidFill>
          </a:ln>
        </p:spPr>
        <p:txBody>
          <a:bodyPr wrap="square" lIns="508" tIns="508" rIns="508" bIns="508" rtlCol="0" anchor="ctr"/>
          <a:lstStyle/>
          <a:p>
            <a:pPr marL="0" indent="0" algn="ctr">
              <a:buNone/>
            </a:pPr>
            <a:r>
              <a:rPr lang="en-US" sz="1200" b="1" dirty="0">
                <a:solidFill>
                  <a:srgbClr val="0B1220"/>
                </a:solidFill>
              </a:rPr>
              <a:t>Lead time • Processing time • Months vs. minutes</a:t>
            </a:r>
            <a:endParaRPr lang="en-US" sz="1200" dirty="0"/>
          </a:p>
        </p:txBody>
      </p:sp>
      <p:sp>
        <p:nvSpPr>
          <p:cNvPr id="6" name="Shape 4"/>
          <p:cNvSpPr/>
          <p:nvPr/>
        </p:nvSpPr>
        <p:spPr>
          <a:xfrm>
            <a:off x="8412480" y="960120"/>
            <a:ext cx="1005840" cy="1005840"/>
          </a:xfrm>
          <a:prstGeom prst="chevron">
            <a:avLst/>
          </a:prstGeom>
          <a:solidFill>
            <a:srgbClr val="F97316"/>
          </a:solidFill>
          <a:ln w="12700">
            <a:solidFill>
              <a:srgbClr val="F97316"/>
            </a:solidFill>
            <a:prstDash val="solid"/>
          </a:ln>
        </p:spPr>
        <p:txBody>
          <a:bodyPr/>
          <a:lstStyle/>
          <a:p>
            <a:endParaRPr lang="en-US"/>
          </a:p>
        </p:txBody>
      </p:sp>
      <p:sp>
        <p:nvSpPr>
          <p:cNvPr id="7" name="Shape 5"/>
          <p:cNvSpPr/>
          <p:nvPr/>
        </p:nvSpPr>
        <p:spPr>
          <a:xfrm>
            <a:off x="9144000" y="1965960"/>
            <a:ext cx="1005840" cy="1005840"/>
          </a:xfrm>
          <a:prstGeom prst="chevron">
            <a:avLst/>
          </a:prstGeom>
          <a:solidFill>
            <a:srgbClr val="38BDF8"/>
          </a:solidFill>
          <a:ln w="12700">
            <a:solidFill>
              <a:srgbClr val="38BDF8"/>
            </a:solidFill>
            <a:prstDash val="solid"/>
          </a:ln>
        </p:spPr>
        <p:txBody>
          <a:bodyPr/>
          <a:lstStyle/>
          <a:p>
            <a:endParaRPr lang="en-US"/>
          </a:p>
        </p:txBody>
      </p:sp>
      <p:sp>
        <p:nvSpPr>
          <p:cNvPr id="8" name="Shape 6"/>
          <p:cNvSpPr/>
          <p:nvPr/>
        </p:nvSpPr>
        <p:spPr>
          <a:xfrm>
            <a:off x="9875520" y="2971800"/>
            <a:ext cx="1005840" cy="1005840"/>
          </a:xfrm>
          <a:prstGeom prst="chevron">
            <a:avLst/>
          </a:prstGeom>
          <a:solidFill>
            <a:srgbClr val="34D399"/>
          </a:solidFill>
          <a:ln w="12700">
            <a:solidFill>
              <a:srgbClr val="34D399"/>
            </a:solidFill>
            <a:prstDash val="solid"/>
          </a:ln>
        </p:spPr>
        <p:txBody>
          <a:bodyPr/>
          <a:lstStyle/>
          <a:p>
            <a:endParaRPr lang="en-US"/>
          </a:p>
        </p:txBody>
      </p:sp>
      <p:sp>
        <p:nvSpPr>
          <p:cNvPr id="9" name="Text 7"/>
          <p:cNvSpPr/>
          <p:nvPr/>
        </p:nvSpPr>
        <p:spPr>
          <a:xfrm>
            <a:off x="7772400" y="502920"/>
            <a:ext cx="1005840" cy="274320"/>
          </a:xfrm>
          <a:prstGeom prst="rect">
            <a:avLst/>
          </a:prstGeom>
          <a:noFill/>
          <a:ln/>
        </p:spPr>
        <p:txBody>
          <a:bodyPr wrap="square" rtlCol="0" anchor="ctr"/>
          <a:lstStyle/>
          <a:p>
            <a:pPr marL="0" indent="0" algn="ctr">
              <a:buNone/>
            </a:pPr>
            <a:r>
              <a:rPr lang="en-US" sz="1400" b="1" dirty="0">
                <a:solidFill>
                  <a:srgbClr val="94A3B8"/>
                </a:solidFill>
              </a:rPr>
              <a:t>Idea</a:t>
            </a:r>
            <a:endParaRPr lang="en-US" sz="1400" dirty="0"/>
          </a:p>
        </p:txBody>
      </p:sp>
      <p:sp>
        <p:nvSpPr>
          <p:cNvPr id="10" name="Text 8"/>
          <p:cNvSpPr/>
          <p:nvPr/>
        </p:nvSpPr>
        <p:spPr>
          <a:xfrm>
            <a:off x="8595360" y="3154680"/>
            <a:ext cx="1005840" cy="274320"/>
          </a:xfrm>
          <a:prstGeom prst="rect">
            <a:avLst/>
          </a:prstGeom>
          <a:noFill/>
          <a:ln/>
        </p:spPr>
        <p:txBody>
          <a:bodyPr wrap="square" rtlCol="0" anchor="ctr"/>
          <a:lstStyle/>
          <a:p>
            <a:pPr marL="0" indent="0" algn="ctr">
              <a:buNone/>
            </a:pPr>
            <a:r>
              <a:rPr lang="en-US" sz="1400" b="1" dirty="0">
                <a:solidFill>
                  <a:srgbClr val="94A3B8"/>
                </a:solidFill>
              </a:rPr>
              <a:t>Build</a:t>
            </a:r>
            <a:endParaRPr lang="en-US" sz="1400" dirty="0"/>
          </a:p>
        </p:txBody>
      </p:sp>
      <p:sp>
        <p:nvSpPr>
          <p:cNvPr id="11" name="Text 9"/>
          <p:cNvSpPr/>
          <p:nvPr/>
        </p:nvSpPr>
        <p:spPr>
          <a:xfrm>
            <a:off x="10744200" y="4187952"/>
            <a:ext cx="1188720" cy="274320"/>
          </a:xfrm>
          <a:prstGeom prst="rect">
            <a:avLst/>
          </a:prstGeom>
          <a:noFill/>
          <a:ln/>
        </p:spPr>
        <p:txBody>
          <a:bodyPr wrap="square" rtlCol="0" anchor="ctr"/>
          <a:lstStyle/>
          <a:p>
            <a:pPr marL="0" indent="0" algn="ctr">
              <a:buNone/>
            </a:pPr>
            <a:r>
              <a:rPr lang="en-US" sz="1400" b="1" dirty="0">
                <a:solidFill>
                  <a:srgbClr val="94A3B8"/>
                </a:solidFill>
              </a:rPr>
              <a:t>Value</a:t>
            </a:r>
            <a:endParaRPr lang="en-US" sz="1400" dirty="0"/>
          </a:p>
        </p:txBody>
      </p:sp>
      <p:sp>
        <p:nvSpPr>
          <p:cNvPr id="12" name="Text 10"/>
          <p:cNvSpPr/>
          <p:nvPr/>
        </p:nvSpPr>
        <p:spPr>
          <a:xfrm>
            <a:off x="694944" y="5943600"/>
            <a:ext cx="4114800" cy="292608"/>
          </a:xfrm>
          <a:prstGeom prst="rect">
            <a:avLst/>
          </a:prstGeom>
          <a:noFill/>
          <a:ln/>
        </p:spPr>
        <p:txBody>
          <a:bodyPr wrap="square" lIns="0" tIns="0" rIns="0" bIns="0" rtlCol="0" anchor="ctr"/>
          <a:lstStyle/>
          <a:p>
            <a:pPr marL="0" indent="0">
              <a:buNone/>
            </a:pPr>
            <a:r>
              <a:rPr lang="en-US" sz="1300" dirty="0">
                <a:solidFill>
                  <a:srgbClr val="94A3B8"/>
                </a:solidFill>
              </a:rPr>
              <a:t>Alex Baldree  •  June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502920" y="6291072"/>
            <a:ext cx="11155680" cy="0"/>
          </a:xfrm>
          <a:prstGeom prst="line">
            <a:avLst/>
          </a:prstGeom>
          <a:noFill/>
          <a:ln w="12700">
            <a:solidFill>
              <a:srgbClr val="334155"/>
            </a:solidFill>
            <a:prstDash val="solid"/>
          </a:ln>
        </p:spPr>
        <p:txBody>
          <a:bodyPr/>
          <a:lstStyle/>
          <a:p>
            <a:endParaRPr lang="en-US"/>
          </a:p>
        </p:txBody>
      </p:sp>
      <p:sp>
        <p:nvSpPr>
          <p:cNvPr id="3" name="Text 1"/>
          <p:cNvSpPr/>
          <p:nvPr/>
        </p:nvSpPr>
        <p:spPr>
          <a:xfrm>
            <a:off x="594360" y="347472"/>
            <a:ext cx="10881360" cy="411480"/>
          </a:xfrm>
          <a:prstGeom prst="rect">
            <a:avLst/>
          </a:prstGeom>
          <a:noFill/>
          <a:ln/>
        </p:spPr>
        <p:txBody>
          <a:bodyPr wrap="square" lIns="0" tIns="0" rIns="0" bIns="0" rtlCol="0" anchor="ct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What is the technology value stream?</a:t>
            </a:r>
            <a:endParaRPr lang="en-US" sz="3100" dirty="0"/>
          </a:p>
        </p:txBody>
      </p:sp>
      <p:sp>
        <p:nvSpPr>
          <p:cNvPr id="4" name="Text 2"/>
          <p:cNvSpPr/>
          <p:nvPr/>
        </p:nvSpPr>
        <p:spPr>
          <a:xfrm>
            <a:off x="612648" y="832104"/>
            <a:ext cx="10607040" cy="310896"/>
          </a:xfrm>
          <a:prstGeom prst="rect">
            <a:avLst/>
          </a:prstGeom>
          <a:noFill/>
          <a:ln/>
        </p:spPr>
        <p:txBody>
          <a:bodyPr wrap="square" lIns="0" tIns="0" rIns="0" bIns="0" rtlCol="0" anchor="ctr"/>
          <a:lstStyle/>
          <a:p>
            <a:pPr marL="0" indent="0">
              <a:buNone/>
            </a:pPr>
            <a:endParaRPr lang="en-US" sz="1350" dirty="0"/>
          </a:p>
        </p:txBody>
      </p:sp>
      <p:sp>
        <p:nvSpPr>
          <p:cNvPr id="5" name="Text 3"/>
          <p:cNvSpPr/>
          <p:nvPr/>
        </p:nvSpPr>
        <p:spPr>
          <a:xfrm>
            <a:off x="777240" y="1417320"/>
            <a:ext cx="5715000" cy="1143000"/>
          </a:xfrm>
          <a:prstGeom prst="rect">
            <a:avLst/>
          </a:prstGeom>
          <a:noFill/>
          <a:ln/>
        </p:spPr>
        <p:txBody>
          <a:bodyPr wrap="square" lIns="1016" tIns="1016" rIns="1016" bIns="1016" rtlCol="0" anchor="ctr">
            <a:normAutofit/>
          </a:bodyPr>
          <a:lstStyle/>
          <a:p>
            <a:pPr marL="0" indent="0">
              <a:buNone/>
            </a:pPr>
            <a:r>
              <a:rPr lang="en-US" sz="2300" i="1" dirty="0">
                <a:solidFill>
                  <a:srgbClr val="F8FAFC"/>
                </a:solidFill>
                <a:latin typeface="Aptos Display" pitchFamily="34" charset="0"/>
                <a:ea typeface="Aptos Display" pitchFamily="34" charset="-122"/>
                <a:cs typeface="Aptos Display" pitchFamily="34" charset="-120"/>
              </a:rPr>
              <a:t>“Value is not really created until the service is running in production and helping the customer.”</a:t>
            </a:r>
            <a:endParaRPr lang="en-US" sz="2300" dirty="0"/>
          </a:p>
        </p:txBody>
      </p:sp>
      <p:sp>
        <p:nvSpPr>
          <p:cNvPr id="6" name="Text 4"/>
          <p:cNvSpPr/>
          <p:nvPr/>
        </p:nvSpPr>
        <p:spPr>
          <a:xfrm>
            <a:off x="868680" y="2880360"/>
            <a:ext cx="5394960" cy="2148840"/>
          </a:xfrm>
          <a:prstGeom prst="rect">
            <a:avLst/>
          </a:prstGeom>
          <a:noFill/>
          <a:ln/>
        </p:spPr>
        <p:txBody>
          <a:bodyPr wrap="square" lIns="635" tIns="635" rIns="635" bIns="635" rtlCol="0" anchor="t">
            <a:normAutofit/>
          </a:bodyPr>
          <a:lstStyle/>
          <a:p>
            <a:pPr marL="190500" indent="-190500">
              <a:buSzPct val="100000"/>
              <a:buChar char="•"/>
            </a:pPr>
            <a:r>
              <a:rPr lang="en-US" sz="1800" dirty="0">
                <a:solidFill>
                  <a:srgbClr val="CBD5E1"/>
                </a:solidFill>
              </a:rPr>
              <a:t>Starts with a business need, feature idea, bug fix, or code change.</a:t>
            </a:r>
            <a:endParaRPr lang="en-US" sz="1800" dirty="0"/>
          </a:p>
          <a:p>
            <a:pPr marL="190500" indent="-190500">
              <a:buSzPct val="100000"/>
              <a:buChar char="•"/>
            </a:pPr>
            <a:r>
              <a:rPr lang="en-US" sz="1800" dirty="0">
                <a:solidFill>
                  <a:srgbClr val="CBD5E1"/>
                </a:solidFill>
              </a:rPr>
              <a:t>Moves through development, testing, security, deployment, operations, and feedback.</a:t>
            </a:r>
            <a:endParaRPr lang="en-US" sz="1800" dirty="0"/>
          </a:p>
          <a:p>
            <a:pPr marL="190500" indent="-190500">
              <a:buSzPct val="100000"/>
              <a:buChar char="•"/>
            </a:pPr>
            <a:r>
              <a:rPr lang="en-US" sz="1800" dirty="0">
                <a:solidFill>
                  <a:srgbClr val="CBD5E1"/>
                </a:solidFill>
              </a:rPr>
              <a:t>DevOps tries to make this flow visible, faster, safer, and easier to improve.</a:t>
            </a:r>
            <a:endParaRPr lang="en-US" sz="1800" dirty="0"/>
          </a:p>
        </p:txBody>
      </p:sp>
      <p:sp>
        <p:nvSpPr>
          <p:cNvPr id="7" name="Text 5"/>
          <p:cNvSpPr/>
          <p:nvPr/>
        </p:nvSpPr>
        <p:spPr>
          <a:xfrm>
            <a:off x="6766560" y="1828800"/>
            <a:ext cx="877824" cy="768096"/>
          </a:xfrm>
          <a:prstGeom prst="rect">
            <a:avLst/>
          </a:prstGeom>
          <a:solidFill>
            <a:srgbClr val="A78BFA"/>
          </a:solidFill>
          <a:ln>
            <a:solidFill>
              <a:srgbClr val="A78BFA"/>
            </a:solidFill>
          </a:ln>
        </p:spPr>
        <p:txBody>
          <a:bodyPr wrap="square" lIns="1016" tIns="1016" rIns="1016" bIns="1016" rtlCol="0" anchor="ctr">
            <a:normAutofit/>
          </a:bodyPr>
          <a:lstStyle/>
          <a:p>
            <a:pPr marL="0" indent="0" algn="ctr">
              <a:buNone/>
            </a:pPr>
            <a:r>
              <a:rPr lang="en-US" sz="1250" b="1" dirty="0">
                <a:solidFill>
                  <a:srgbClr val="0B1220"/>
                </a:solidFill>
              </a:rPr>
              <a:t>Idea</a:t>
            </a:r>
            <a:endParaRPr lang="en-US" sz="1250" dirty="0"/>
          </a:p>
        </p:txBody>
      </p:sp>
      <p:sp>
        <p:nvSpPr>
          <p:cNvPr id="8" name="Shape 6"/>
          <p:cNvSpPr/>
          <p:nvPr/>
        </p:nvSpPr>
        <p:spPr>
          <a:xfrm>
            <a:off x="7653528" y="2212848"/>
            <a:ext cx="658368" cy="0"/>
          </a:xfrm>
          <a:prstGeom prst="line">
            <a:avLst/>
          </a:prstGeom>
          <a:noFill/>
          <a:ln w="25400">
            <a:solidFill>
              <a:srgbClr val="94A3B8"/>
            </a:solidFill>
            <a:prstDash val="solid"/>
            <a:headEnd type="none"/>
            <a:tailEnd type="triangle"/>
          </a:ln>
        </p:spPr>
        <p:txBody>
          <a:bodyPr/>
          <a:lstStyle/>
          <a:p>
            <a:endParaRPr lang="en-US"/>
          </a:p>
        </p:txBody>
      </p:sp>
      <p:sp>
        <p:nvSpPr>
          <p:cNvPr id="9" name="Text 7"/>
          <p:cNvSpPr/>
          <p:nvPr/>
        </p:nvSpPr>
        <p:spPr>
          <a:xfrm>
            <a:off x="7726680" y="1828800"/>
            <a:ext cx="877824" cy="768096"/>
          </a:xfrm>
          <a:prstGeom prst="rect">
            <a:avLst/>
          </a:prstGeom>
          <a:solidFill>
            <a:srgbClr val="38BDF8"/>
          </a:solidFill>
          <a:ln>
            <a:solidFill>
              <a:srgbClr val="38BDF8"/>
            </a:solidFill>
          </a:ln>
        </p:spPr>
        <p:txBody>
          <a:bodyPr wrap="square" lIns="1016" tIns="1016" rIns="1016" bIns="1016" rtlCol="0" anchor="ctr">
            <a:normAutofit/>
          </a:bodyPr>
          <a:lstStyle/>
          <a:p>
            <a:pPr marL="0" indent="0" algn="ctr">
              <a:buNone/>
            </a:pPr>
            <a:r>
              <a:rPr lang="en-US" sz="1250" b="1" dirty="0">
                <a:solidFill>
                  <a:srgbClr val="0B1220"/>
                </a:solidFill>
              </a:rPr>
              <a:t>Code</a:t>
            </a:r>
            <a:endParaRPr lang="en-US" sz="1250" dirty="0"/>
          </a:p>
        </p:txBody>
      </p:sp>
      <p:sp>
        <p:nvSpPr>
          <p:cNvPr id="10" name="Shape 8"/>
          <p:cNvSpPr/>
          <p:nvPr/>
        </p:nvSpPr>
        <p:spPr>
          <a:xfrm>
            <a:off x="8613648" y="2212848"/>
            <a:ext cx="658368" cy="0"/>
          </a:xfrm>
          <a:prstGeom prst="line">
            <a:avLst/>
          </a:prstGeom>
          <a:noFill/>
          <a:ln w="25400">
            <a:solidFill>
              <a:srgbClr val="94A3B8"/>
            </a:solidFill>
            <a:prstDash val="solid"/>
            <a:headEnd type="none"/>
            <a:tailEnd type="triangle"/>
          </a:ln>
        </p:spPr>
        <p:txBody>
          <a:bodyPr/>
          <a:lstStyle/>
          <a:p>
            <a:endParaRPr lang="en-US"/>
          </a:p>
        </p:txBody>
      </p:sp>
      <p:sp>
        <p:nvSpPr>
          <p:cNvPr id="11" name="Text 9"/>
          <p:cNvSpPr/>
          <p:nvPr/>
        </p:nvSpPr>
        <p:spPr>
          <a:xfrm>
            <a:off x="8686800" y="1828800"/>
            <a:ext cx="877824" cy="768096"/>
          </a:xfrm>
          <a:prstGeom prst="rect">
            <a:avLst/>
          </a:prstGeom>
          <a:solidFill>
            <a:srgbClr val="FBBF24"/>
          </a:solidFill>
          <a:ln>
            <a:solidFill>
              <a:srgbClr val="FBBF24"/>
            </a:solidFill>
          </a:ln>
        </p:spPr>
        <p:txBody>
          <a:bodyPr wrap="square" lIns="1016" tIns="1016" rIns="1016" bIns="1016" rtlCol="0" anchor="ctr">
            <a:normAutofit/>
          </a:bodyPr>
          <a:lstStyle/>
          <a:p>
            <a:pPr marL="0" indent="0" algn="ctr">
              <a:buNone/>
            </a:pPr>
            <a:r>
              <a:rPr lang="en-US" sz="1250" b="1" dirty="0">
                <a:solidFill>
                  <a:srgbClr val="0B1220"/>
                </a:solidFill>
              </a:rPr>
              <a:t>Test</a:t>
            </a:r>
            <a:endParaRPr lang="en-US" sz="1250" dirty="0"/>
          </a:p>
        </p:txBody>
      </p:sp>
      <p:sp>
        <p:nvSpPr>
          <p:cNvPr id="12" name="Shape 10"/>
          <p:cNvSpPr/>
          <p:nvPr/>
        </p:nvSpPr>
        <p:spPr>
          <a:xfrm>
            <a:off x="9573768" y="2212848"/>
            <a:ext cx="658368" cy="0"/>
          </a:xfrm>
          <a:prstGeom prst="line">
            <a:avLst/>
          </a:prstGeom>
          <a:noFill/>
          <a:ln w="25400">
            <a:solidFill>
              <a:srgbClr val="94A3B8"/>
            </a:solidFill>
            <a:prstDash val="solid"/>
            <a:headEnd type="none"/>
            <a:tailEnd type="triangle"/>
          </a:ln>
        </p:spPr>
        <p:txBody>
          <a:bodyPr/>
          <a:lstStyle/>
          <a:p>
            <a:endParaRPr lang="en-US"/>
          </a:p>
        </p:txBody>
      </p:sp>
      <p:sp>
        <p:nvSpPr>
          <p:cNvPr id="13" name="Text 11"/>
          <p:cNvSpPr/>
          <p:nvPr/>
        </p:nvSpPr>
        <p:spPr>
          <a:xfrm>
            <a:off x="9646920" y="1828800"/>
            <a:ext cx="877824" cy="768096"/>
          </a:xfrm>
          <a:prstGeom prst="rect">
            <a:avLst/>
          </a:prstGeom>
          <a:solidFill>
            <a:srgbClr val="F97316"/>
          </a:solidFill>
          <a:ln>
            <a:solidFill>
              <a:srgbClr val="F97316"/>
            </a:solidFill>
          </a:ln>
        </p:spPr>
        <p:txBody>
          <a:bodyPr wrap="square" lIns="1016" tIns="1016" rIns="1016" bIns="1016" rtlCol="0" anchor="ctr">
            <a:normAutofit/>
          </a:bodyPr>
          <a:lstStyle/>
          <a:p>
            <a:pPr marL="0" indent="0" algn="ctr">
              <a:buNone/>
            </a:pPr>
            <a:r>
              <a:rPr lang="en-US" sz="1250" b="1" dirty="0">
                <a:solidFill>
                  <a:srgbClr val="0B1220"/>
                </a:solidFill>
              </a:rPr>
              <a:t>Deploy</a:t>
            </a:r>
            <a:endParaRPr lang="en-US" sz="1250" dirty="0"/>
          </a:p>
        </p:txBody>
      </p:sp>
      <p:sp>
        <p:nvSpPr>
          <p:cNvPr id="14" name="Shape 12"/>
          <p:cNvSpPr/>
          <p:nvPr/>
        </p:nvSpPr>
        <p:spPr>
          <a:xfrm>
            <a:off x="10533888" y="2212848"/>
            <a:ext cx="658368" cy="0"/>
          </a:xfrm>
          <a:prstGeom prst="line">
            <a:avLst/>
          </a:prstGeom>
          <a:noFill/>
          <a:ln w="25400">
            <a:solidFill>
              <a:srgbClr val="94A3B8"/>
            </a:solidFill>
            <a:prstDash val="solid"/>
            <a:headEnd type="none"/>
            <a:tailEnd type="triangle"/>
          </a:ln>
        </p:spPr>
        <p:txBody>
          <a:bodyPr/>
          <a:lstStyle/>
          <a:p>
            <a:endParaRPr lang="en-US"/>
          </a:p>
        </p:txBody>
      </p:sp>
      <p:sp>
        <p:nvSpPr>
          <p:cNvPr id="15" name="Text 13"/>
          <p:cNvSpPr/>
          <p:nvPr/>
        </p:nvSpPr>
        <p:spPr>
          <a:xfrm>
            <a:off x="10607040" y="1828800"/>
            <a:ext cx="877824" cy="768096"/>
          </a:xfrm>
          <a:prstGeom prst="rect">
            <a:avLst/>
          </a:prstGeom>
          <a:solidFill>
            <a:srgbClr val="34D399"/>
          </a:solidFill>
          <a:ln>
            <a:solidFill>
              <a:srgbClr val="34D399"/>
            </a:solidFill>
          </a:ln>
        </p:spPr>
        <p:txBody>
          <a:bodyPr wrap="square" lIns="1016" tIns="1016" rIns="1016" bIns="1016" rtlCol="0" anchor="ctr">
            <a:normAutofit/>
          </a:bodyPr>
          <a:lstStyle/>
          <a:p>
            <a:pPr marL="0" indent="0" algn="ctr">
              <a:buNone/>
            </a:pPr>
            <a:r>
              <a:rPr lang="en-US" sz="1250" b="1" dirty="0">
                <a:solidFill>
                  <a:srgbClr val="0B1220"/>
                </a:solidFill>
              </a:rPr>
              <a:t>Feedback</a:t>
            </a:r>
            <a:endParaRPr lang="en-US" sz="1250" dirty="0"/>
          </a:p>
        </p:txBody>
      </p:sp>
      <p:sp>
        <p:nvSpPr>
          <p:cNvPr id="16" name="Text 14"/>
          <p:cNvSpPr/>
          <p:nvPr/>
        </p:nvSpPr>
        <p:spPr>
          <a:xfrm>
            <a:off x="6876288" y="3063240"/>
            <a:ext cx="4434840" cy="868680"/>
          </a:xfrm>
          <a:prstGeom prst="rect">
            <a:avLst/>
          </a:prstGeom>
          <a:noFill/>
          <a:ln/>
        </p:spPr>
        <p:txBody>
          <a:bodyPr wrap="square" lIns="0" tIns="0" rIns="0" bIns="0" rtlCol="0" anchor="ctr">
            <a:normAutofit/>
          </a:bodyPr>
          <a:lstStyle/>
          <a:p>
            <a:pPr marL="0" indent="0">
              <a:buNone/>
            </a:pPr>
            <a:r>
              <a:rPr lang="en-US" sz="2400" b="1" dirty="0">
                <a:solidFill>
                  <a:srgbClr val="F8FAFC"/>
                </a:solidFill>
              </a:rPr>
              <a:t>Goal: shorten the path without lowering quality.</a:t>
            </a:r>
            <a:endParaRPr lang="en-US" sz="2400" dirty="0"/>
          </a:p>
        </p:txBody>
      </p:sp>
      <p:sp>
        <p:nvSpPr>
          <p:cNvPr id="17" name="Text 15"/>
          <p:cNvSpPr/>
          <p:nvPr/>
        </p:nvSpPr>
        <p:spPr>
          <a:xfrm>
            <a:off x="6903720" y="4160520"/>
            <a:ext cx="4251960" cy="685800"/>
          </a:xfrm>
          <a:prstGeom prst="rect">
            <a:avLst/>
          </a:prstGeom>
          <a:noFill/>
          <a:ln/>
        </p:spPr>
        <p:txBody>
          <a:bodyPr wrap="square" lIns="0" tIns="0" rIns="0" bIns="0" rtlCol="0" anchor="ctr"/>
          <a:lstStyle/>
          <a:p>
            <a:pPr marL="0" indent="0">
              <a:buNone/>
            </a:pPr>
            <a:r>
              <a:rPr lang="en-US" sz="1700" dirty="0">
                <a:solidFill>
                  <a:srgbClr val="CBD5E1"/>
                </a:solidFill>
              </a:rPr>
              <a:t>That means reducing waiting, rework, big batches, and unnecessary handoffs.</a:t>
            </a:r>
            <a:endParaRPr lang="en-US" sz="1700" dirty="0"/>
          </a:p>
        </p:txBody>
      </p:sp>
      <p:sp>
        <p:nvSpPr>
          <p:cNvPr id="18" name="Text 16"/>
          <p:cNvSpPr/>
          <p:nvPr/>
        </p:nvSpPr>
        <p:spPr>
          <a:xfrm>
            <a:off x="594360" y="6455664"/>
            <a:ext cx="3291840" cy="219456"/>
          </a:xfrm>
          <a:prstGeom prst="rect">
            <a:avLst/>
          </a:prstGeom>
          <a:noFill/>
          <a:ln/>
        </p:spPr>
        <p:txBody>
          <a:bodyPr wrap="square" lIns="0" tIns="0" rIns="0" bIns="0" rtlCol="0" anchor="ctr"/>
          <a:lstStyle/>
          <a:p>
            <a:pPr marL="0" indent="0">
              <a:buNone/>
            </a:pPr>
            <a:r>
              <a:rPr lang="en-US" sz="850" dirty="0">
                <a:solidFill>
                  <a:srgbClr val="94A3B8"/>
                </a:solidFill>
              </a:rPr>
              <a:t>Technology Value Stream  •  2</a:t>
            </a:r>
            <a:endParaRPr lang="en-US" sz="850" dirty="0"/>
          </a:p>
        </p:txBody>
      </p:sp>
      <p:sp>
        <p:nvSpPr>
          <p:cNvPr id="19" name="Text 17"/>
          <p:cNvSpPr/>
          <p:nvPr/>
        </p:nvSpPr>
        <p:spPr>
          <a:xfrm>
            <a:off x="4572000" y="6437376"/>
            <a:ext cx="7086600" cy="256032"/>
          </a:xfrm>
          <a:prstGeom prst="rect">
            <a:avLst/>
          </a:prstGeom>
          <a:noFill/>
          <a:ln/>
        </p:spPr>
        <p:txBody>
          <a:bodyPr wrap="square" lIns="0" tIns="0" rIns="0" bIns="0" rtlCol="0" anchor="ctr"/>
          <a:lstStyle/>
          <a:p>
            <a:pPr marL="0" indent="0" algn="r">
              <a:buNone/>
            </a:pPr>
            <a:r>
              <a:rPr lang="en-US" sz="780" dirty="0">
                <a:solidFill>
                  <a:srgbClr val="94A3B8"/>
                </a:solidFill>
              </a:rPr>
              <a:t>Sources: Course textbook pp. 9–10; Red Green Refactor summary of The DevOps Handbook</a:t>
            </a:r>
            <a:endParaRPr lang="en-US" sz="7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502920" y="6291072"/>
            <a:ext cx="11155680" cy="0"/>
          </a:xfrm>
          <a:prstGeom prst="line">
            <a:avLst/>
          </a:prstGeom>
          <a:noFill/>
          <a:ln w="12700">
            <a:solidFill>
              <a:srgbClr val="334155"/>
            </a:solidFill>
            <a:prstDash val="solid"/>
          </a:ln>
        </p:spPr>
        <p:txBody>
          <a:bodyPr/>
          <a:lstStyle/>
          <a:p>
            <a:endParaRPr lang="en-US"/>
          </a:p>
        </p:txBody>
      </p:sp>
      <p:sp>
        <p:nvSpPr>
          <p:cNvPr id="3" name="Text 1"/>
          <p:cNvSpPr/>
          <p:nvPr/>
        </p:nvSpPr>
        <p:spPr>
          <a:xfrm>
            <a:off x="594360" y="347472"/>
            <a:ext cx="10881360" cy="411480"/>
          </a:xfrm>
          <a:prstGeom prst="rect">
            <a:avLst/>
          </a:prstGeom>
          <a:noFill/>
          <a:ln/>
        </p:spPr>
        <p:txBody>
          <a:bodyPr wrap="square" lIns="0" tIns="0" rIns="0" bIns="0" rtlCol="0" anchor="ct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Lead time vs. processing time</a:t>
            </a:r>
            <a:endParaRPr lang="en-US" sz="3100" dirty="0"/>
          </a:p>
        </p:txBody>
      </p:sp>
      <p:sp>
        <p:nvSpPr>
          <p:cNvPr id="4" name="Text 2"/>
          <p:cNvSpPr/>
          <p:nvPr/>
        </p:nvSpPr>
        <p:spPr>
          <a:xfrm>
            <a:off x="612648" y="832104"/>
            <a:ext cx="10607040" cy="310896"/>
          </a:xfrm>
          <a:prstGeom prst="rect">
            <a:avLst/>
          </a:prstGeom>
          <a:noFill/>
          <a:ln/>
        </p:spPr>
        <p:txBody>
          <a:bodyPr wrap="square" lIns="0" tIns="0" rIns="0" bIns="0" rtlCol="0" anchor="ctr"/>
          <a:lstStyle/>
          <a:p>
            <a:pPr marL="0" indent="0">
              <a:buNone/>
            </a:pPr>
            <a:endParaRPr lang="en-US" sz="1350" dirty="0"/>
          </a:p>
        </p:txBody>
      </p:sp>
      <p:sp>
        <p:nvSpPr>
          <p:cNvPr id="5" name="Text 3"/>
          <p:cNvSpPr/>
          <p:nvPr/>
        </p:nvSpPr>
        <p:spPr>
          <a:xfrm>
            <a:off x="777240" y="1463040"/>
            <a:ext cx="2286000" cy="411480"/>
          </a:xfrm>
          <a:prstGeom prst="rect">
            <a:avLst/>
          </a:prstGeom>
          <a:noFill/>
          <a:ln/>
        </p:spPr>
        <p:txBody>
          <a:bodyPr wrap="square" lIns="0" tIns="0" rIns="0" bIns="0" rtlCol="0" anchor="ctr"/>
          <a:lstStyle/>
          <a:p>
            <a:pPr marL="0" indent="0">
              <a:buNone/>
            </a:pPr>
            <a:r>
              <a:rPr lang="en-US" sz="2800" b="1" dirty="0">
                <a:solidFill>
                  <a:srgbClr val="22D3EE"/>
                </a:solidFill>
              </a:rPr>
              <a:t>Lead Time</a:t>
            </a:r>
            <a:endParaRPr lang="en-US" sz="2800" dirty="0"/>
          </a:p>
        </p:txBody>
      </p:sp>
      <p:sp>
        <p:nvSpPr>
          <p:cNvPr id="6" name="Text 4"/>
          <p:cNvSpPr/>
          <p:nvPr/>
        </p:nvSpPr>
        <p:spPr>
          <a:xfrm>
            <a:off x="777240" y="1965960"/>
            <a:ext cx="4572000" cy="347472"/>
          </a:xfrm>
          <a:prstGeom prst="rect">
            <a:avLst/>
          </a:prstGeom>
          <a:noFill/>
          <a:ln/>
        </p:spPr>
        <p:txBody>
          <a:bodyPr wrap="square" lIns="0" tIns="0" rIns="0" bIns="0" rtlCol="0" anchor="ctr"/>
          <a:lstStyle/>
          <a:p>
            <a:pPr marL="0" indent="0">
              <a:buNone/>
            </a:pPr>
            <a:r>
              <a:rPr lang="en-US" sz="1700" dirty="0">
                <a:solidFill>
                  <a:srgbClr val="F8FAFC"/>
                </a:solidFill>
              </a:rPr>
              <a:t>Total elapsed time from request to fulfillment.</a:t>
            </a:r>
            <a:endParaRPr lang="en-US" sz="1700" dirty="0"/>
          </a:p>
        </p:txBody>
      </p:sp>
      <p:sp>
        <p:nvSpPr>
          <p:cNvPr id="7" name="Text 5"/>
          <p:cNvSpPr/>
          <p:nvPr/>
        </p:nvSpPr>
        <p:spPr>
          <a:xfrm>
            <a:off x="777240" y="2423160"/>
            <a:ext cx="4846320" cy="685800"/>
          </a:xfrm>
          <a:prstGeom prst="rect">
            <a:avLst/>
          </a:prstGeom>
          <a:noFill/>
          <a:ln/>
        </p:spPr>
        <p:txBody>
          <a:bodyPr wrap="square" lIns="0" tIns="0" rIns="0" bIns="0" rtlCol="0" anchor="ctr"/>
          <a:lstStyle/>
          <a:p>
            <a:pPr marL="0" indent="0">
              <a:buNone/>
            </a:pPr>
            <a:r>
              <a:rPr lang="en-US" sz="1600" dirty="0">
                <a:solidFill>
                  <a:srgbClr val="CBD5E1"/>
                </a:solidFill>
              </a:rPr>
              <a:t>Includes queue time, waiting, approvals, handoffs, active work, testing, and deployment.</a:t>
            </a:r>
            <a:endParaRPr lang="en-US" sz="1600" dirty="0"/>
          </a:p>
        </p:txBody>
      </p:sp>
      <p:sp>
        <p:nvSpPr>
          <p:cNvPr id="8" name="Text 6"/>
          <p:cNvSpPr/>
          <p:nvPr/>
        </p:nvSpPr>
        <p:spPr>
          <a:xfrm>
            <a:off x="6492240" y="1463040"/>
            <a:ext cx="2926080" cy="411480"/>
          </a:xfrm>
          <a:prstGeom prst="rect">
            <a:avLst/>
          </a:prstGeom>
          <a:noFill/>
          <a:ln/>
        </p:spPr>
        <p:txBody>
          <a:bodyPr wrap="square" lIns="0" tIns="0" rIns="0" bIns="0" rtlCol="0" anchor="ctr"/>
          <a:lstStyle/>
          <a:p>
            <a:pPr marL="0" indent="0">
              <a:buNone/>
            </a:pPr>
            <a:r>
              <a:rPr lang="en-US" sz="2800" b="1" dirty="0">
                <a:solidFill>
                  <a:srgbClr val="34D399"/>
                </a:solidFill>
              </a:rPr>
              <a:t>Processing Time</a:t>
            </a:r>
            <a:endParaRPr lang="en-US" sz="2800" dirty="0"/>
          </a:p>
        </p:txBody>
      </p:sp>
      <p:sp>
        <p:nvSpPr>
          <p:cNvPr id="9" name="Text 7"/>
          <p:cNvSpPr/>
          <p:nvPr/>
        </p:nvSpPr>
        <p:spPr>
          <a:xfrm>
            <a:off x="6492240" y="1965960"/>
            <a:ext cx="4754880" cy="347472"/>
          </a:xfrm>
          <a:prstGeom prst="rect">
            <a:avLst/>
          </a:prstGeom>
          <a:noFill/>
          <a:ln/>
        </p:spPr>
        <p:txBody>
          <a:bodyPr wrap="square" lIns="0" tIns="0" rIns="0" bIns="0" rtlCol="0" anchor="ctr"/>
          <a:lstStyle/>
          <a:p>
            <a:pPr marL="0" indent="0">
              <a:buNone/>
            </a:pPr>
            <a:r>
              <a:rPr lang="en-US" sz="1700" dirty="0">
                <a:solidFill>
                  <a:srgbClr val="F8FAFC"/>
                </a:solidFill>
              </a:rPr>
              <a:t>Time spent actively working on the request.</a:t>
            </a:r>
            <a:endParaRPr lang="en-US" sz="1700" dirty="0"/>
          </a:p>
        </p:txBody>
      </p:sp>
      <p:sp>
        <p:nvSpPr>
          <p:cNvPr id="10" name="Text 8"/>
          <p:cNvSpPr/>
          <p:nvPr/>
        </p:nvSpPr>
        <p:spPr>
          <a:xfrm>
            <a:off x="6492240" y="2423160"/>
            <a:ext cx="4800600" cy="685800"/>
          </a:xfrm>
          <a:prstGeom prst="rect">
            <a:avLst/>
          </a:prstGeom>
          <a:noFill/>
          <a:ln/>
        </p:spPr>
        <p:txBody>
          <a:bodyPr wrap="square" lIns="0" tIns="0" rIns="0" bIns="0" rtlCol="0" anchor="ctr"/>
          <a:lstStyle/>
          <a:p>
            <a:pPr marL="0" indent="0">
              <a:buNone/>
            </a:pPr>
            <a:r>
              <a:rPr lang="en-US" sz="1600" dirty="0">
                <a:solidFill>
                  <a:srgbClr val="CBD5E1"/>
                </a:solidFill>
              </a:rPr>
              <a:t>Does not count time sitting in a queue before someone begins working on it.</a:t>
            </a:r>
            <a:endParaRPr lang="en-US" sz="1600" dirty="0"/>
          </a:p>
        </p:txBody>
      </p:sp>
      <p:sp>
        <p:nvSpPr>
          <p:cNvPr id="11" name="Shape 9"/>
          <p:cNvSpPr/>
          <p:nvPr/>
        </p:nvSpPr>
        <p:spPr>
          <a:xfrm>
            <a:off x="914400" y="4041648"/>
            <a:ext cx="10241280" cy="0"/>
          </a:xfrm>
          <a:prstGeom prst="line">
            <a:avLst/>
          </a:prstGeom>
          <a:noFill/>
          <a:ln w="38100">
            <a:solidFill>
              <a:srgbClr val="94A3B8"/>
            </a:solidFill>
            <a:prstDash val="solid"/>
            <a:tailEnd type="triangle"/>
          </a:ln>
        </p:spPr>
        <p:txBody>
          <a:bodyPr/>
          <a:lstStyle/>
          <a:p>
            <a:endParaRPr lang="en-US"/>
          </a:p>
        </p:txBody>
      </p:sp>
      <p:sp>
        <p:nvSpPr>
          <p:cNvPr id="12" name="Text 10"/>
          <p:cNvSpPr/>
          <p:nvPr/>
        </p:nvSpPr>
        <p:spPr>
          <a:xfrm>
            <a:off x="685800" y="3675888"/>
            <a:ext cx="1051560" cy="566928"/>
          </a:xfrm>
          <a:prstGeom prst="rect">
            <a:avLst/>
          </a:prstGeom>
          <a:solidFill>
            <a:srgbClr val="A78BFA"/>
          </a:solidFill>
          <a:ln>
            <a:solidFill>
              <a:srgbClr val="A78BFA"/>
            </a:solidFill>
          </a:ln>
        </p:spPr>
        <p:txBody>
          <a:bodyPr wrap="square" lIns="1016" tIns="1016" rIns="1016" bIns="1016" rtlCol="0" anchor="ctr">
            <a:normAutofit/>
          </a:bodyPr>
          <a:lstStyle/>
          <a:p>
            <a:pPr marL="0" indent="0" algn="ctr">
              <a:buNone/>
            </a:pPr>
            <a:r>
              <a:rPr lang="en-US" sz="1200" b="1" dirty="0">
                <a:solidFill>
                  <a:srgbClr val="0B1220"/>
                </a:solidFill>
              </a:rPr>
              <a:t>Request</a:t>
            </a:r>
            <a:endParaRPr lang="en-US" sz="1200" dirty="0"/>
          </a:p>
        </p:txBody>
      </p:sp>
      <p:sp>
        <p:nvSpPr>
          <p:cNvPr id="13" name="Text 11"/>
          <p:cNvSpPr/>
          <p:nvPr/>
        </p:nvSpPr>
        <p:spPr>
          <a:xfrm>
            <a:off x="2331720" y="3675888"/>
            <a:ext cx="1005840" cy="566928"/>
          </a:xfrm>
          <a:prstGeom prst="rect">
            <a:avLst/>
          </a:prstGeom>
          <a:solidFill>
            <a:srgbClr val="334155"/>
          </a:solidFill>
          <a:ln>
            <a:solidFill>
              <a:srgbClr val="334155"/>
            </a:solidFill>
          </a:ln>
        </p:spPr>
        <p:txBody>
          <a:bodyPr wrap="square" lIns="1016" tIns="1016" rIns="1016" bIns="1016" rtlCol="0" anchor="ctr">
            <a:normAutofit/>
          </a:bodyPr>
          <a:lstStyle/>
          <a:p>
            <a:pPr marL="0" indent="0" algn="ctr">
              <a:buNone/>
            </a:pPr>
            <a:r>
              <a:rPr lang="en-US" sz="1200" b="1" dirty="0">
                <a:solidFill>
                  <a:srgbClr val="F8FAFC"/>
                </a:solidFill>
              </a:rPr>
              <a:t>Wait</a:t>
            </a:r>
            <a:endParaRPr lang="en-US" sz="1200" dirty="0"/>
          </a:p>
        </p:txBody>
      </p:sp>
      <p:sp>
        <p:nvSpPr>
          <p:cNvPr id="14" name="Text 12"/>
          <p:cNvSpPr/>
          <p:nvPr/>
        </p:nvSpPr>
        <p:spPr>
          <a:xfrm>
            <a:off x="3794760" y="3675888"/>
            <a:ext cx="1005840" cy="566928"/>
          </a:xfrm>
          <a:prstGeom prst="rect">
            <a:avLst/>
          </a:prstGeom>
          <a:solidFill>
            <a:srgbClr val="34D399"/>
          </a:solidFill>
          <a:ln>
            <a:solidFill>
              <a:srgbClr val="34D399"/>
            </a:solidFill>
          </a:ln>
        </p:spPr>
        <p:txBody>
          <a:bodyPr wrap="square" lIns="1016" tIns="1016" rIns="1016" bIns="1016" rtlCol="0" anchor="ctr">
            <a:normAutofit/>
          </a:bodyPr>
          <a:lstStyle/>
          <a:p>
            <a:pPr marL="0" indent="0" algn="ctr">
              <a:buNone/>
            </a:pPr>
            <a:r>
              <a:rPr lang="en-US" sz="1200" b="1" dirty="0">
                <a:solidFill>
                  <a:srgbClr val="0B1220"/>
                </a:solidFill>
              </a:rPr>
              <a:t>Work</a:t>
            </a:r>
            <a:endParaRPr lang="en-US" sz="1200" dirty="0"/>
          </a:p>
        </p:txBody>
      </p:sp>
      <p:sp>
        <p:nvSpPr>
          <p:cNvPr id="15" name="Text 13"/>
          <p:cNvSpPr/>
          <p:nvPr/>
        </p:nvSpPr>
        <p:spPr>
          <a:xfrm>
            <a:off x="5257800" y="3675888"/>
            <a:ext cx="1005840" cy="566928"/>
          </a:xfrm>
          <a:prstGeom prst="rect">
            <a:avLst/>
          </a:prstGeom>
          <a:solidFill>
            <a:srgbClr val="334155"/>
          </a:solidFill>
          <a:ln>
            <a:solidFill>
              <a:srgbClr val="334155"/>
            </a:solidFill>
          </a:ln>
        </p:spPr>
        <p:txBody>
          <a:bodyPr wrap="square" lIns="1016" tIns="1016" rIns="1016" bIns="1016" rtlCol="0" anchor="ctr">
            <a:normAutofit/>
          </a:bodyPr>
          <a:lstStyle/>
          <a:p>
            <a:pPr marL="0" indent="0" algn="ctr">
              <a:buNone/>
            </a:pPr>
            <a:r>
              <a:rPr lang="en-US" sz="1200" b="1" dirty="0">
                <a:solidFill>
                  <a:srgbClr val="F8FAFC"/>
                </a:solidFill>
              </a:rPr>
              <a:t>Wait</a:t>
            </a:r>
            <a:endParaRPr lang="en-US" sz="1200" dirty="0"/>
          </a:p>
        </p:txBody>
      </p:sp>
      <p:sp>
        <p:nvSpPr>
          <p:cNvPr id="16" name="Text 14"/>
          <p:cNvSpPr/>
          <p:nvPr/>
        </p:nvSpPr>
        <p:spPr>
          <a:xfrm>
            <a:off x="6720840" y="3675888"/>
            <a:ext cx="1005840" cy="566928"/>
          </a:xfrm>
          <a:prstGeom prst="rect">
            <a:avLst/>
          </a:prstGeom>
          <a:solidFill>
            <a:srgbClr val="FBBF24"/>
          </a:solidFill>
          <a:ln>
            <a:solidFill>
              <a:srgbClr val="FBBF24"/>
            </a:solidFill>
          </a:ln>
        </p:spPr>
        <p:txBody>
          <a:bodyPr wrap="square" lIns="1016" tIns="1016" rIns="1016" bIns="1016" rtlCol="0" anchor="ctr">
            <a:normAutofit/>
          </a:bodyPr>
          <a:lstStyle/>
          <a:p>
            <a:pPr marL="0" indent="0" algn="ctr">
              <a:buNone/>
            </a:pPr>
            <a:r>
              <a:rPr lang="en-US" sz="1200" b="1" dirty="0">
                <a:solidFill>
                  <a:srgbClr val="0B1220"/>
                </a:solidFill>
              </a:rPr>
              <a:t>Test</a:t>
            </a:r>
            <a:endParaRPr lang="en-US" sz="1200" dirty="0"/>
          </a:p>
        </p:txBody>
      </p:sp>
      <p:sp>
        <p:nvSpPr>
          <p:cNvPr id="17" name="Text 15"/>
          <p:cNvSpPr/>
          <p:nvPr/>
        </p:nvSpPr>
        <p:spPr>
          <a:xfrm>
            <a:off x="8183880" y="3675888"/>
            <a:ext cx="1097280" cy="566928"/>
          </a:xfrm>
          <a:prstGeom prst="rect">
            <a:avLst/>
          </a:prstGeom>
          <a:solidFill>
            <a:srgbClr val="F97316"/>
          </a:solidFill>
          <a:ln>
            <a:solidFill>
              <a:srgbClr val="F97316"/>
            </a:solidFill>
          </a:ln>
        </p:spPr>
        <p:txBody>
          <a:bodyPr wrap="square" lIns="1016" tIns="1016" rIns="1016" bIns="1016" rtlCol="0" anchor="ctr">
            <a:normAutofit/>
          </a:bodyPr>
          <a:lstStyle/>
          <a:p>
            <a:pPr marL="0" indent="0" algn="ctr">
              <a:buNone/>
            </a:pPr>
            <a:r>
              <a:rPr lang="en-US" sz="1200" b="1" dirty="0">
                <a:solidFill>
                  <a:srgbClr val="0B1220"/>
                </a:solidFill>
              </a:rPr>
              <a:t>Deploy</a:t>
            </a:r>
            <a:endParaRPr lang="en-US" sz="1200" dirty="0"/>
          </a:p>
        </p:txBody>
      </p:sp>
      <p:sp>
        <p:nvSpPr>
          <p:cNvPr id="18" name="Text 16"/>
          <p:cNvSpPr/>
          <p:nvPr/>
        </p:nvSpPr>
        <p:spPr>
          <a:xfrm>
            <a:off x="10332720" y="3675888"/>
            <a:ext cx="914400" cy="566928"/>
          </a:xfrm>
          <a:prstGeom prst="rect">
            <a:avLst/>
          </a:prstGeom>
          <a:solidFill>
            <a:srgbClr val="38BDF8"/>
          </a:solidFill>
          <a:ln>
            <a:solidFill>
              <a:srgbClr val="38BDF8"/>
            </a:solidFill>
          </a:ln>
        </p:spPr>
        <p:txBody>
          <a:bodyPr wrap="square" lIns="1016" tIns="1016" rIns="1016" bIns="1016" rtlCol="0" anchor="ctr">
            <a:normAutofit/>
          </a:bodyPr>
          <a:lstStyle/>
          <a:p>
            <a:pPr marL="0" indent="0" algn="ctr">
              <a:buNone/>
            </a:pPr>
            <a:r>
              <a:rPr lang="en-US" sz="1200" b="1" dirty="0">
                <a:solidFill>
                  <a:srgbClr val="0B1220"/>
                </a:solidFill>
              </a:rPr>
              <a:t>Done</a:t>
            </a:r>
            <a:endParaRPr lang="en-US" sz="1200" dirty="0"/>
          </a:p>
        </p:txBody>
      </p:sp>
      <p:sp>
        <p:nvSpPr>
          <p:cNvPr id="19" name="Text 17"/>
          <p:cNvSpPr/>
          <p:nvPr/>
        </p:nvSpPr>
        <p:spPr>
          <a:xfrm>
            <a:off x="914400" y="4828032"/>
            <a:ext cx="4297680" cy="292608"/>
          </a:xfrm>
          <a:prstGeom prst="rect">
            <a:avLst/>
          </a:prstGeom>
          <a:noFill/>
          <a:ln/>
        </p:spPr>
        <p:txBody>
          <a:bodyPr wrap="square" lIns="0" tIns="0" rIns="0" bIns="0" rtlCol="0" anchor="ctr"/>
          <a:lstStyle/>
          <a:p>
            <a:pPr marL="0" indent="0">
              <a:buNone/>
            </a:pPr>
            <a:r>
              <a:rPr lang="en-US" sz="1500" b="1" dirty="0">
                <a:solidFill>
                  <a:srgbClr val="22D3EE"/>
                </a:solidFill>
              </a:rPr>
              <a:t>Lead time covers the entire line.</a:t>
            </a:r>
            <a:endParaRPr lang="en-US" sz="1500" dirty="0"/>
          </a:p>
        </p:txBody>
      </p:sp>
      <p:sp>
        <p:nvSpPr>
          <p:cNvPr id="20" name="Text 18"/>
          <p:cNvSpPr/>
          <p:nvPr/>
        </p:nvSpPr>
        <p:spPr>
          <a:xfrm>
            <a:off x="6035040" y="4828032"/>
            <a:ext cx="4846320" cy="292608"/>
          </a:xfrm>
          <a:prstGeom prst="rect">
            <a:avLst/>
          </a:prstGeom>
          <a:noFill/>
          <a:ln/>
        </p:spPr>
        <p:txBody>
          <a:bodyPr wrap="square" lIns="0" tIns="0" rIns="0" bIns="0" rtlCol="0" anchor="ctr"/>
          <a:lstStyle/>
          <a:p>
            <a:pPr marL="0" indent="0">
              <a:buNone/>
            </a:pPr>
            <a:r>
              <a:rPr lang="en-US" sz="1500" b="1" dirty="0">
                <a:solidFill>
                  <a:srgbClr val="34D399"/>
                </a:solidFill>
              </a:rPr>
              <a:t>Processing time is only the active work pieces.</a:t>
            </a:r>
            <a:endParaRPr lang="en-US" sz="1500" dirty="0"/>
          </a:p>
        </p:txBody>
      </p:sp>
      <p:sp>
        <p:nvSpPr>
          <p:cNvPr id="21" name="Text 19"/>
          <p:cNvSpPr/>
          <p:nvPr/>
        </p:nvSpPr>
        <p:spPr>
          <a:xfrm>
            <a:off x="594360" y="6455664"/>
            <a:ext cx="3291840" cy="219456"/>
          </a:xfrm>
          <a:prstGeom prst="rect">
            <a:avLst/>
          </a:prstGeom>
          <a:noFill/>
          <a:ln/>
        </p:spPr>
        <p:txBody>
          <a:bodyPr wrap="square" lIns="0" tIns="0" rIns="0" bIns="0" rtlCol="0" anchor="ctr"/>
          <a:lstStyle/>
          <a:p>
            <a:pPr marL="0" indent="0">
              <a:buNone/>
            </a:pPr>
            <a:r>
              <a:rPr lang="en-US" sz="850" dirty="0">
                <a:solidFill>
                  <a:srgbClr val="94A3B8"/>
                </a:solidFill>
              </a:rPr>
              <a:t>Technology Value Stream  •  3</a:t>
            </a:r>
            <a:endParaRPr lang="en-US" sz="850" dirty="0"/>
          </a:p>
        </p:txBody>
      </p:sp>
      <p:sp>
        <p:nvSpPr>
          <p:cNvPr id="22" name="Text 20"/>
          <p:cNvSpPr/>
          <p:nvPr/>
        </p:nvSpPr>
        <p:spPr>
          <a:xfrm>
            <a:off x="4572000" y="6437376"/>
            <a:ext cx="7086600" cy="256032"/>
          </a:xfrm>
          <a:prstGeom prst="rect">
            <a:avLst/>
          </a:prstGeom>
          <a:noFill/>
          <a:ln/>
        </p:spPr>
        <p:txBody>
          <a:bodyPr wrap="square" lIns="0" tIns="0" rIns="0" bIns="0" rtlCol="0" anchor="ctr"/>
          <a:lstStyle/>
          <a:p>
            <a:pPr marL="0" indent="0" algn="r">
              <a:buNone/>
            </a:pPr>
            <a:r>
              <a:rPr lang="en-US" sz="780" dirty="0">
                <a:solidFill>
                  <a:srgbClr val="94A3B8"/>
                </a:solidFill>
              </a:rPr>
              <a:t>Sources: Course textbook p. 9; Red Green Refactor; DORA metrics guide</a:t>
            </a:r>
            <a:endParaRPr lang="en-US" sz="7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502920" y="6291072"/>
            <a:ext cx="11155680" cy="0"/>
          </a:xfrm>
          <a:prstGeom prst="line">
            <a:avLst/>
          </a:prstGeom>
          <a:noFill/>
          <a:ln w="12700">
            <a:solidFill>
              <a:srgbClr val="334155"/>
            </a:solidFill>
            <a:prstDash val="solid"/>
          </a:ln>
        </p:spPr>
        <p:txBody>
          <a:bodyPr/>
          <a:lstStyle/>
          <a:p>
            <a:endParaRPr lang="en-US"/>
          </a:p>
        </p:txBody>
      </p:sp>
      <p:sp>
        <p:nvSpPr>
          <p:cNvPr id="3" name="Text 1"/>
          <p:cNvSpPr/>
          <p:nvPr/>
        </p:nvSpPr>
        <p:spPr>
          <a:xfrm>
            <a:off x="594360" y="347472"/>
            <a:ext cx="10881360" cy="411480"/>
          </a:xfrm>
          <a:prstGeom prst="rect">
            <a:avLst/>
          </a:prstGeom>
          <a:noFill/>
          <a:ln/>
        </p:spPr>
        <p:txBody>
          <a:bodyPr wrap="square" lIns="0" tIns="0" rIns="0" bIns="0" rtlCol="0" anchor="ct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Months-long deployment lead times</a:t>
            </a:r>
            <a:endParaRPr lang="en-US" sz="3100" dirty="0"/>
          </a:p>
        </p:txBody>
      </p:sp>
      <p:sp>
        <p:nvSpPr>
          <p:cNvPr id="4" name="Text 2"/>
          <p:cNvSpPr/>
          <p:nvPr/>
        </p:nvSpPr>
        <p:spPr>
          <a:xfrm>
            <a:off x="612648" y="832104"/>
            <a:ext cx="10607040" cy="310896"/>
          </a:xfrm>
          <a:prstGeom prst="rect">
            <a:avLst/>
          </a:prstGeom>
          <a:noFill/>
          <a:ln/>
        </p:spPr>
        <p:txBody>
          <a:bodyPr wrap="square" lIns="0" tIns="0" rIns="0" bIns="0" rtlCol="0" anchor="ctr"/>
          <a:lstStyle/>
          <a:p>
            <a:pPr marL="0" indent="0">
              <a:buNone/>
            </a:pPr>
            <a:endParaRPr lang="en-US" sz="1350" dirty="0"/>
          </a:p>
        </p:txBody>
      </p:sp>
      <p:sp>
        <p:nvSpPr>
          <p:cNvPr id="5" name="Text 3"/>
          <p:cNvSpPr/>
          <p:nvPr/>
        </p:nvSpPr>
        <p:spPr>
          <a:xfrm>
            <a:off x="777240" y="1325880"/>
            <a:ext cx="10607040" cy="530352"/>
          </a:xfrm>
          <a:prstGeom prst="rect">
            <a:avLst/>
          </a:prstGeom>
          <a:noFill/>
          <a:ln/>
        </p:spPr>
        <p:txBody>
          <a:bodyPr wrap="square" lIns="254" tIns="254" rIns="254" bIns="254" rtlCol="0" anchor="ctr">
            <a:normAutofit fontScale="92500" lnSpcReduction="10000"/>
          </a:bodyPr>
          <a:lstStyle/>
          <a:p>
            <a:pPr marL="0" indent="0">
              <a:buNone/>
            </a:pPr>
            <a:r>
              <a:rPr lang="en-US" sz="2100" b="1" dirty="0">
                <a:solidFill>
                  <a:srgbClr val="F8FAFC"/>
                </a:solidFill>
              </a:rPr>
              <a:t>Months-long lead time usually feels normal because each department is “busy,” but the value stream is slow.</a:t>
            </a:r>
            <a:endParaRPr lang="en-US" sz="2100" dirty="0"/>
          </a:p>
        </p:txBody>
      </p:sp>
      <p:sp>
        <p:nvSpPr>
          <p:cNvPr id="6" name="Text 4"/>
          <p:cNvSpPr/>
          <p:nvPr/>
        </p:nvSpPr>
        <p:spPr>
          <a:xfrm>
            <a:off x="868680" y="2240280"/>
            <a:ext cx="2194560" cy="594360"/>
          </a:xfrm>
          <a:prstGeom prst="rect">
            <a:avLst/>
          </a:prstGeom>
          <a:solidFill>
            <a:srgbClr val="FB7185"/>
          </a:solidFill>
          <a:ln>
            <a:solidFill>
              <a:srgbClr val="FB7185"/>
            </a:solidFill>
          </a:ln>
        </p:spPr>
        <p:txBody>
          <a:bodyPr wrap="square" lIns="1016" tIns="1016" rIns="1016" bIns="1016" rtlCol="0" anchor="ctr">
            <a:normAutofit/>
          </a:bodyPr>
          <a:lstStyle/>
          <a:p>
            <a:pPr marL="0" indent="0" algn="ctr">
              <a:buNone/>
            </a:pPr>
            <a:r>
              <a:rPr lang="en-US" sz="1400" b="1" dirty="0">
                <a:solidFill>
                  <a:srgbClr val="0B1220"/>
                </a:solidFill>
              </a:rPr>
              <a:t>Large batches</a:t>
            </a:r>
            <a:endParaRPr lang="en-US" sz="1400" dirty="0"/>
          </a:p>
        </p:txBody>
      </p:sp>
      <p:sp>
        <p:nvSpPr>
          <p:cNvPr id="7" name="Text 5"/>
          <p:cNvSpPr/>
          <p:nvPr/>
        </p:nvSpPr>
        <p:spPr>
          <a:xfrm>
            <a:off x="868680" y="3017520"/>
            <a:ext cx="2221992" cy="1234440"/>
          </a:xfrm>
          <a:prstGeom prst="rect">
            <a:avLst/>
          </a:prstGeom>
          <a:noFill/>
          <a:ln/>
        </p:spPr>
        <p:txBody>
          <a:bodyPr wrap="square" lIns="635" tIns="635" rIns="635" bIns="635" rtlCol="0" anchor="t">
            <a:normAutofit/>
          </a:bodyPr>
          <a:lstStyle/>
          <a:p>
            <a:pPr marL="0" indent="0">
              <a:buNone/>
            </a:pPr>
            <a:r>
              <a:rPr lang="en-US" sz="1450" dirty="0">
                <a:solidFill>
                  <a:srgbClr val="CBD5E1"/>
                </a:solidFill>
              </a:rPr>
              <a:t>Big releases build up risk and make testing harder.</a:t>
            </a:r>
            <a:endParaRPr lang="en-US" sz="1450" dirty="0"/>
          </a:p>
        </p:txBody>
      </p:sp>
      <p:sp>
        <p:nvSpPr>
          <p:cNvPr id="8" name="Text 6"/>
          <p:cNvSpPr/>
          <p:nvPr/>
        </p:nvSpPr>
        <p:spPr>
          <a:xfrm>
            <a:off x="3657600" y="2240280"/>
            <a:ext cx="2194560" cy="594360"/>
          </a:xfrm>
          <a:prstGeom prst="rect">
            <a:avLst/>
          </a:prstGeom>
          <a:solidFill>
            <a:srgbClr val="F97316"/>
          </a:solidFill>
          <a:ln>
            <a:solidFill>
              <a:srgbClr val="F97316"/>
            </a:solidFill>
          </a:ln>
        </p:spPr>
        <p:txBody>
          <a:bodyPr wrap="square" lIns="1016" tIns="1016" rIns="1016" bIns="1016" rtlCol="0" anchor="ctr">
            <a:normAutofit/>
          </a:bodyPr>
          <a:lstStyle/>
          <a:p>
            <a:pPr marL="0" indent="0" algn="ctr">
              <a:buNone/>
            </a:pPr>
            <a:r>
              <a:rPr lang="en-US" sz="1400" b="1" dirty="0">
                <a:solidFill>
                  <a:srgbClr val="0B1220"/>
                </a:solidFill>
              </a:rPr>
              <a:t>Sequential handoffs</a:t>
            </a:r>
            <a:endParaRPr lang="en-US" sz="1400" dirty="0"/>
          </a:p>
        </p:txBody>
      </p:sp>
      <p:sp>
        <p:nvSpPr>
          <p:cNvPr id="9" name="Text 7"/>
          <p:cNvSpPr/>
          <p:nvPr/>
        </p:nvSpPr>
        <p:spPr>
          <a:xfrm>
            <a:off x="3657600" y="3017520"/>
            <a:ext cx="2221992" cy="1234440"/>
          </a:xfrm>
          <a:prstGeom prst="rect">
            <a:avLst/>
          </a:prstGeom>
          <a:noFill/>
          <a:ln/>
        </p:spPr>
        <p:txBody>
          <a:bodyPr wrap="square" lIns="635" tIns="635" rIns="635" bIns="635" rtlCol="0" anchor="t">
            <a:normAutofit/>
          </a:bodyPr>
          <a:lstStyle/>
          <a:p>
            <a:pPr marL="0" indent="0">
              <a:buNone/>
            </a:pPr>
            <a:r>
              <a:rPr lang="en-US" sz="1450" dirty="0">
                <a:solidFill>
                  <a:srgbClr val="CBD5E1"/>
                </a:solidFill>
              </a:rPr>
              <a:t>Work waits for another team to pick it up.</a:t>
            </a:r>
            <a:endParaRPr lang="en-US" sz="1450" dirty="0"/>
          </a:p>
        </p:txBody>
      </p:sp>
      <p:sp>
        <p:nvSpPr>
          <p:cNvPr id="10" name="Text 8"/>
          <p:cNvSpPr/>
          <p:nvPr/>
        </p:nvSpPr>
        <p:spPr>
          <a:xfrm>
            <a:off x="6446520" y="2240280"/>
            <a:ext cx="2194560" cy="594360"/>
          </a:xfrm>
          <a:prstGeom prst="rect">
            <a:avLst/>
          </a:prstGeom>
          <a:solidFill>
            <a:srgbClr val="FBBF24"/>
          </a:solidFill>
          <a:ln>
            <a:solidFill>
              <a:srgbClr val="FBBF24"/>
            </a:solidFill>
          </a:ln>
        </p:spPr>
        <p:txBody>
          <a:bodyPr wrap="square" lIns="1016" tIns="1016" rIns="1016" bIns="1016" rtlCol="0" anchor="ctr">
            <a:normAutofit/>
          </a:bodyPr>
          <a:lstStyle/>
          <a:p>
            <a:pPr marL="0" indent="0" algn="ctr">
              <a:buNone/>
            </a:pPr>
            <a:r>
              <a:rPr lang="en-US" sz="1400" b="1" dirty="0">
                <a:solidFill>
                  <a:srgbClr val="0B1220"/>
                </a:solidFill>
              </a:rPr>
              <a:t>Manual gates</a:t>
            </a:r>
            <a:endParaRPr lang="en-US" sz="1400" dirty="0"/>
          </a:p>
        </p:txBody>
      </p:sp>
      <p:sp>
        <p:nvSpPr>
          <p:cNvPr id="11" name="Text 9"/>
          <p:cNvSpPr/>
          <p:nvPr/>
        </p:nvSpPr>
        <p:spPr>
          <a:xfrm>
            <a:off x="6446520" y="3017520"/>
            <a:ext cx="2221992" cy="1234440"/>
          </a:xfrm>
          <a:prstGeom prst="rect">
            <a:avLst/>
          </a:prstGeom>
          <a:noFill/>
          <a:ln/>
        </p:spPr>
        <p:txBody>
          <a:bodyPr wrap="square" lIns="635" tIns="635" rIns="635" bIns="635" rtlCol="0" anchor="t">
            <a:normAutofit/>
          </a:bodyPr>
          <a:lstStyle/>
          <a:p>
            <a:pPr marL="0" indent="0">
              <a:buNone/>
            </a:pPr>
            <a:r>
              <a:rPr lang="en-US" sz="1450" dirty="0">
                <a:solidFill>
                  <a:srgbClr val="CBD5E1"/>
                </a:solidFill>
              </a:rPr>
              <a:t>Approvals and manual testing stretch the calendar.</a:t>
            </a:r>
            <a:endParaRPr lang="en-US" sz="1450" dirty="0"/>
          </a:p>
        </p:txBody>
      </p:sp>
      <p:sp>
        <p:nvSpPr>
          <p:cNvPr id="12" name="Text 10"/>
          <p:cNvSpPr/>
          <p:nvPr/>
        </p:nvSpPr>
        <p:spPr>
          <a:xfrm>
            <a:off x="9235440" y="2240280"/>
            <a:ext cx="2194560" cy="594360"/>
          </a:xfrm>
          <a:prstGeom prst="rect">
            <a:avLst/>
          </a:prstGeom>
          <a:solidFill>
            <a:srgbClr val="A78BFA"/>
          </a:solidFill>
          <a:ln>
            <a:solidFill>
              <a:srgbClr val="A78BFA"/>
            </a:solidFill>
          </a:ln>
        </p:spPr>
        <p:txBody>
          <a:bodyPr wrap="square" lIns="1016" tIns="1016" rIns="1016" bIns="1016" rtlCol="0" anchor="ctr">
            <a:normAutofit/>
          </a:bodyPr>
          <a:lstStyle/>
          <a:p>
            <a:pPr marL="0" indent="0" algn="ctr">
              <a:buNone/>
            </a:pPr>
            <a:r>
              <a:rPr lang="en-US" sz="1400" b="1" dirty="0">
                <a:solidFill>
                  <a:srgbClr val="0B1220"/>
                </a:solidFill>
              </a:rPr>
              <a:t>Late integration</a:t>
            </a:r>
            <a:endParaRPr lang="en-US" sz="1400" dirty="0"/>
          </a:p>
        </p:txBody>
      </p:sp>
      <p:sp>
        <p:nvSpPr>
          <p:cNvPr id="13" name="Text 11"/>
          <p:cNvSpPr/>
          <p:nvPr/>
        </p:nvSpPr>
        <p:spPr>
          <a:xfrm>
            <a:off x="9235440" y="3017520"/>
            <a:ext cx="2221992" cy="1234440"/>
          </a:xfrm>
          <a:prstGeom prst="rect">
            <a:avLst/>
          </a:prstGeom>
          <a:noFill/>
          <a:ln/>
        </p:spPr>
        <p:txBody>
          <a:bodyPr wrap="square" lIns="635" tIns="635" rIns="635" bIns="635" rtlCol="0" anchor="t">
            <a:normAutofit/>
          </a:bodyPr>
          <a:lstStyle/>
          <a:p>
            <a:pPr marL="0" indent="0">
              <a:buNone/>
            </a:pPr>
            <a:r>
              <a:rPr lang="en-US" sz="1450" dirty="0">
                <a:solidFill>
                  <a:srgbClr val="CBD5E1"/>
                </a:solidFill>
              </a:rPr>
              <a:t>Teams discover conflicts near the end, when fixing them costs more.</a:t>
            </a:r>
            <a:endParaRPr lang="en-US" sz="1450" dirty="0"/>
          </a:p>
        </p:txBody>
      </p:sp>
      <p:sp>
        <p:nvSpPr>
          <p:cNvPr id="14" name="Shape 12"/>
          <p:cNvSpPr/>
          <p:nvPr/>
        </p:nvSpPr>
        <p:spPr>
          <a:xfrm>
            <a:off x="1097280" y="4800600"/>
            <a:ext cx="9966960" cy="0"/>
          </a:xfrm>
          <a:prstGeom prst="line">
            <a:avLst/>
          </a:prstGeom>
          <a:noFill/>
          <a:ln w="50800">
            <a:solidFill>
              <a:srgbClr val="FB7185"/>
            </a:solidFill>
            <a:prstDash val="solid"/>
            <a:tailEnd type="triangle"/>
          </a:ln>
        </p:spPr>
        <p:txBody>
          <a:bodyPr/>
          <a:lstStyle/>
          <a:p>
            <a:endParaRPr lang="en-US"/>
          </a:p>
        </p:txBody>
      </p:sp>
      <p:sp>
        <p:nvSpPr>
          <p:cNvPr id="15" name="Text 13"/>
          <p:cNvSpPr/>
          <p:nvPr/>
        </p:nvSpPr>
        <p:spPr>
          <a:xfrm>
            <a:off x="960120" y="5166360"/>
            <a:ext cx="10058400" cy="502920"/>
          </a:xfrm>
          <a:prstGeom prst="rect">
            <a:avLst/>
          </a:prstGeom>
          <a:noFill/>
          <a:ln/>
        </p:spPr>
        <p:txBody>
          <a:bodyPr wrap="square" lIns="0" tIns="0" rIns="0" bIns="0" rtlCol="0" anchor="ctr"/>
          <a:lstStyle/>
          <a:p>
            <a:pPr marL="0" indent="0" algn="ctr">
              <a:buNone/>
            </a:pPr>
            <a:r>
              <a:rPr lang="en-US" sz="2200" b="1" dirty="0">
                <a:solidFill>
                  <a:srgbClr val="F8FAFC"/>
                </a:solidFill>
              </a:rPr>
              <a:t>Result: slower feedback, more rework, bigger risk, and customers waiting longer for value.</a:t>
            </a:r>
            <a:endParaRPr lang="en-US" sz="2200" dirty="0"/>
          </a:p>
        </p:txBody>
      </p:sp>
      <p:sp>
        <p:nvSpPr>
          <p:cNvPr id="16" name="Text 14"/>
          <p:cNvSpPr/>
          <p:nvPr/>
        </p:nvSpPr>
        <p:spPr>
          <a:xfrm>
            <a:off x="594360" y="6455664"/>
            <a:ext cx="3291840" cy="219456"/>
          </a:xfrm>
          <a:prstGeom prst="rect">
            <a:avLst/>
          </a:prstGeom>
          <a:noFill/>
          <a:ln/>
        </p:spPr>
        <p:txBody>
          <a:bodyPr wrap="square" lIns="0" tIns="0" rIns="0" bIns="0" rtlCol="0" anchor="ctr"/>
          <a:lstStyle/>
          <a:p>
            <a:pPr marL="0" indent="0">
              <a:buNone/>
            </a:pPr>
            <a:r>
              <a:rPr lang="en-US" sz="850" dirty="0">
                <a:solidFill>
                  <a:srgbClr val="94A3B8"/>
                </a:solidFill>
              </a:rPr>
              <a:t>Technology Value Stream  •  4</a:t>
            </a:r>
            <a:endParaRPr lang="en-US" sz="850" dirty="0"/>
          </a:p>
        </p:txBody>
      </p:sp>
      <p:sp>
        <p:nvSpPr>
          <p:cNvPr id="17" name="Text 15"/>
          <p:cNvSpPr/>
          <p:nvPr/>
        </p:nvSpPr>
        <p:spPr>
          <a:xfrm>
            <a:off x="4572000" y="6437376"/>
            <a:ext cx="7086600" cy="256032"/>
          </a:xfrm>
          <a:prstGeom prst="rect">
            <a:avLst/>
          </a:prstGeom>
          <a:noFill/>
          <a:ln/>
        </p:spPr>
        <p:txBody>
          <a:bodyPr wrap="square" lIns="0" tIns="0" rIns="0" bIns="0" rtlCol="0" anchor="ctr"/>
          <a:lstStyle/>
          <a:p>
            <a:pPr marL="0" indent="0" algn="r">
              <a:buNone/>
            </a:pPr>
            <a:r>
              <a:rPr lang="en-US" sz="780" dirty="0">
                <a:solidFill>
                  <a:srgbClr val="94A3B8"/>
                </a:solidFill>
              </a:rPr>
              <a:t>Sources: Course textbook p. 10; Red Green Refactor; DORA value stream mapping guide</a:t>
            </a:r>
            <a:endParaRPr lang="en-US" sz="7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502920" y="6291072"/>
            <a:ext cx="11155680" cy="0"/>
          </a:xfrm>
          <a:prstGeom prst="line">
            <a:avLst/>
          </a:prstGeom>
          <a:noFill/>
          <a:ln w="12700">
            <a:solidFill>
              <a:srgbClr val="334155"/>
            </a:solidFill>
            <a:prstDash val="solid"/>
          </a:ln>
        </p:spPr>
        <p:txBody>
          <a:bodyPr/>
          <a:lstStyle/>
          <a:p>
            <a:endParaRPr lang="en-US"/>
          </a:p>
        </p:txBody>
      </p:sp>
      <p:sp>
        <p:nvSpPr>
          <p:cNvPr id="3" name="Text 1"/>
          <p:cNvSpPr/>
          <p:nvPr/>
        </p:nvSpPr>
        <p:spPr>
          <a:xfrm>
            <a:off x="594360" y="347472"/>
            <a:ext cx="10881360" cy="411480"/>
          </a:xfrm>
          <a:prstGeom prst="rect">
            <a:avLst/>
          </a:prstGeom>
          <a:noFill/>
          <a:ln/>
        </p:spPr>
        <p:txBody>
          <a:bodyPr wrap="square" lIns="0" tIns="0" rIns="0" bIns="0" rtlCol="0" anchor="ct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Where the waste hides</a:t>
            </a:r>
            <a:endParaRPr lang="en-US" sz="3100" dirty="0"/>
          </a:p>
        </p:txBody>
      </p:sp>
      <p:sp>
        <p:nvSpPr>
          <p:cNvPr id="4" name="Text 2"/>
          <p:cNvSpPr/>
          <p:nvPr/>
        </p:nvSpPr>
        <p:spPr>
          <a:xfrm>
            <a:off x="612648" y="832104"/>
            <a:ext cx="10607040" cy="310896"/>
          </a:xfrm>
          <a:prstGeom prst="rect">
            <a:avLst/>
          </a:prstGeom>
          <a:noFill/>
          <a:ln/>
        </p:spPr>
        <p:txBody>
          <a:bodyPr wrap="square" lIns="0" tIns="0" rIns="0" bIns="0" rtlCol="0" anchor="ctr"/>
          <a:lstStyle/>
          <a:p>
            <a:pPr marL="0" indent="0">
              <a:buNone/>
            </a:pPr>
            <a:endParaRPr lang="en-US" sz="1350" dirty="0"/>
          </a:p>
        </p:txBody>
      </p:sp>
      <p:sp>
        <p:nvSpPr>
          <p:cNvPr id="5" name="Text 3"/>
          <p:cNvSpPr/>
          <p:nvPr/>
        </p:nvSpPr>
        <p:spPr>
          <a:xfrm>
            <a:off x="777240" y="1417320"/>
            <a:ext cx="5486400" cy="411480"/>
          </a:xfrm>
          <a:prstGeom prst="rect">
            <a:avLst/>
          </a:prstGeom>
          <a:noFill/>
          <a:ln/>
        </p:spPr>
        <p:txBody>
          <a:bodyPr wrap="square" lIns="0" tIns="0" rIns="0" bIns="0" rtlCol="0" anchor="ctr"/>
          <a:lstStyle/>
          <a:p>
            <a:pPr marL="0" indent="0">
              <a:buNone/>
            </a:pPr>
            <a:r>
              <a:rPr lang="en-US" sz="2500" b="1" dirty="0">
                <a:solidFill>
                  <a:srgbClr val="F8FAFC"/>
                </a:solidFill>
              </a:rPr>
              <a:t>Common waste in a technology value stream</a:t>
            </a:r>
            <a:endParaRPr lang="en-US" sz="2500" dirty="0"/>
          </a:p>
        </p:txBody>
      </p:sp>
      <p:sp>
        <p:nvSpPr>
          <p:cNvPr id="6" name="Text 4"/>
          <p:cNvSpPr/>
          <p:nvPr/>
        </p:nvSpPr>
        <p:spPr>
          <a:xfrm>
            <a:off x="868680" y="2057400"/>
            <a:ext cx="5577840" cy="3108960"/>
          </a:xfrm>
          <a:prstGeom prst="rect">
            <a:avLst/>
          </a:prstGeom>
          <a:noFill/>
          <a:ln/>
        </p:spPr>
        <p:txBody>
          <a:bodyPr wrap="square" lIns="635" tIns="635" rIns="635" bIns="635" rtlCol="0" anchor="t">
            <a:normAutofit/>
          </a:bodyPr>
          <a:lstStyle/>
          <a:p>
            <a:pPr marL="190500" indent="-190500">
              <a:buSzPct val="100000"/>
              <a:buChar char="•"/>
            </a:pPr>
            <a:r>
              <a:rPr lang="en-US" sz="1750" dirty="0">
                <a:solidFill>
                  <a:srgbClr val="CBD5E1"/>
                </a:solidFill>
              </a:rPr>
              <a:t>Work sitting in a queue for review, testing, approval, or deployment.</a:t>
            </a:r>
            <a:endParaRPr lang="en-US" sz="1750" dirty="0"/>
          </a:p>
          <a:p>
            <a:pPr marL="190500" indent="-190500">
              <a:buSzPct val="100000"/>
              <a:buChar char="•"/>
            </a:pPr>
            <a:r>
              <a:rPr lang="en-US" sz="1750" dirty="0">
                <a:solidFill>
                  <a:srgbClr val="CBD5E1"/>
                </a:solidFill>
              </a:rPr>
              <a:t>Too much work in process, so people switch context instead of finishing.</a:t>
            </a:r>
            <a:endParaRPr lang="en-US" sz="1750" dirty="0"/>
          </a:p>
          <a:p>
            <a:pPr marL="190500" indent="-190500">
              <a:buSzPct val="100000"/>
              <a:buChar char="•"/>
            </a:pPr>
            <a:r>
              <a:rPr lang="en-US" sz="1750" dirty="0">
                <a:solidFill>
                  <a:srgbClr val="CBD5E1"/>
                </a:solidFill>
              </a:rPr>
              <a:t>Defects moving downstream because quality is checked too late.</a:t>
            </a:r>
            <a:endParaRPr lang="en-US" sz="1750" dirty="0"/>
          </a:p>
          <a:p>
            <a:pPr marL="190500" indent="-190500">
              <a:buSzPct val="100000"/>
              <a:buChar char="•"/>
            </a:pPr>
            <a:r>
              <a:rPr lang="en-US" sz="1750" dirty="0">
                <a:solidFill>
                  <a:srgbClr val="CBD5E1"/>
                </a:solidFill>
              </a:rPr>
              <a:t>Handoffs that require extra explanation, meetings, or rework.</a:t>
            </a:r>
            <a:endParaRPr lang="en-US" sz="1750" dirty="0"/>
          </a:p>
          <a:p>
            <a:pPr marL="190500" indent="-190500">
              <a:buSzPct val="100000"/>
              <a:buChar char="•"/>
            </a:pPr>
            <a:r>
              <a:rPr lang="en-US" sz="1750" dirty="0">
                <a:solidFill>
                  <a:srgbClr val="CBD5E1"/>
                </a:solidFill>
              </a:rPr>
              <a:t>Manual deployment steps that depend on a small group of specialists.</a:t>
            </a:r>
            <a:endParaRPr lang="en-US" sz="1750" dirty="0"/>
          </a:p>
        </p:txBody>
      </p:sp>
      <p:sp>
        <p:nvSpPr>
          <p:cNvPr id="7" name="Text 5"/>
          <p:cNvSpPr/>
          <p:nvPr/>
        </p:nvSpPr>
        <p:spPr>
          <a:xfrm>
            <a:off x="6967728" y="1554480"/>
            <a:ext cx="4023360" cy="347472"/>
          </a:xfrm>
          <a:prstGeom prst="rect">
            <a:avLst/>
          </a:prstGeom>
          <a:noFill/>
          <a:ln/>
        </p:spPr>
        <p:txBody>
          <a:bodyPr wrap="square" lIns="0" tIns="0" rIns="0" bIns="0" rtlCol="0" anchor="ctr"/>
          <a:lstStyle/>
          <a:p>
            <a:pPr marL="0" indent="0">
              <a:buNone/>
            </a:pPr>
            <a:r>
              <a:rPr lang="en-US" sz="1800" b="1" dirty="0">
                <a:solidFill>
                  <a:srgbClr val="22D3EE"/>
                </a:solidFill>
              </a:rPr>
              <a:t>My view</a:t>
            </a:r>
            <a:endParaRPr lang="en-US" sz="1800" dirty="0"/>
          </a:p>
        </p:txBody>
      </p:sp>
      <p:sp>
        <p:nvSpPr>
          <p:cNvPr id="8" name="Text 6"/>
          <p:cNvSpPr/>
          <p:nvPr/>
        </p:nvSpPr>
        <p:spPr>
          <a:xfrm>
            <a:off x="6967728" y="2057400"/>
            <a:ext cx="4160520" cy="1508760"/>
          </a:xfrm>
          <a:prstGeom prst="rect">
            <a:avLst/>
          </a:prstGeom>
          <a:noFill/>
          <a:ln/>
        </p:spPr>
        <p:txBody>
          <a:bodyPr wrap="square" lIns="0" tIns="0" rIns="0" bIns="0" rtlCol="0" anchor="ctr">
            <a:normAutofit/>
          </a:bodyPr>
          <a:lstStyle/>
          <a:p>
            <a:pPr marL="0" indent="0">
              <a:buNone/>
            </a:pPr>
            <a:r>
              <a:rPr lang="en-US" sz="2300" b="1" dirty="0">
                <a:solidFill>
                  <a:srgbClr val="F8FAFC"/>
                </a:solidFill>
              </a:rPr>
              <a:t>The biggest problem is not that teams are lazy. It is usually that the system makes work wait too long between steps.</a:t>
            </a:r>
            <a:endParaRPr lang="en-US" sz="2300" dirty="0"/>
          </a:p>
        </p:txBody>
      </p:sp>
      <p:sp>
        <p:nvSpPr>
          <p:cNvPr id="9" name="Text 7"/>
          <p:cNvSpPr/>
          <p:nvPr/>
        </p:nvSpPr>
        <p:spPr>
          <a:xfrm>
            <a:off x="6986016" y="3886200"/>
            <a:ext cx="4023360" cy="1005840"/>
          </a:xfrm>
          <a:prstGeom prst="rect">
            <a:avLst/>
          </a:prstGeom>
          <a:noFill/>
          <a:ln/>
        </p:spPr>
        <p:txBody>
          <a:bodyPr wrap="square" lIns="0" tIns="0" rIns="0" bIns="0" rtlCol="0" anchor="ctr"/>
          <a:lstStyle/>
          <a:p>
            <a:pPr marL="0" indent="0">
              <a:buNone/>
            </a:pPr>
            <a:r>
              <a:rPr lang="en-US" sz="1650" dirty="0">
                <a:solidFill>
                  <a:srgbClr val="CBD5E1"/>
                </a:solidFill>
              </a:rPr>
              <a:t>That is why DevOps focuses on flow, feedback, and continuous improvement instead of only telling people to “work faster.”</a:t>
            </a:r>
            <a:endParaRPr lang="en-US" sz="1650" dirty="0"/>
          </a:p>
        </p:txBody>
      </p:sp>
      <p:sp>
        <p:nvSpPr>
          <p:cNvPr id="10" name="Text 8"/>
          <p:cNvSpPr/>
          <p:nvPr/>
        </p:nvSpPr>
        <p:spPr>
          <a:xfrm>
            <a:off x="594360" y="6455664"/>
            <a:ext cx="3291840" cy="219456"/>
          </a:xfrm>
          <a:prstGeom prst="rect">
            <a:avLst/>
          </a:prstGeom>
          <a:noFill/>
          <a:ln/>
        </p:spPr>
        <p:txBody>
          <a:bodyPr wrap="square" lIns="0" tIns="0" rIns="0" bIns="0" rtlCol="0" anchor="ctr"/>
          <a:lstStyle/>
          <a:p>
            <a:pPr marL="0" indent="0">
              <a:buNone/>
            </a:pPr>
            <a:r>
              <a:rPr lang="en-US" sz="850" dirty="0">
                <a:solidFill>
                  <a:srgbClr val="94A3B8"/>
                </a:solidFill>
              </a:rPr>
              <a:t>Technology Value Stream  •  5</a:t>
            </a:r>
            <a:endParaRPr lang="en-US" sz="850" dirty="0"/>
          </a:p>
        </p:txBody>
      </p:sp>
      <p:sp>
        <p:nvSpPr>
          <p:cNvPr id="11" name="Text 9"/>
          <p:cNvSpPr/>
          <p:nvPr/>
        </p:nvSpPr>
        <p:spPr>
          <a:xfrm>
            <a:off x="4572000" y="6437376"/>
            <a:ext cx="7086600" cy="256032"/>
          </a:xfrm>
          <a:prstGeom prst="rect">
            <a:avLst/>
          </a:prstGeom>
          <a:noFill/>
          <a:ln/>
        </p:spPr>
        <p:txBody>
          <a:bodyPr wrap="square" lIns="0" tIns="0" rIns="0" bIns="0" rtlCol="0" anchor="ctr"/>
          <a:lstStyle/>
          <a:p>
            <a:pPr marL="0" indent="0" algn="r">
              <a:buNone/>
            </a:pPr>
            <a:r>
              <a:rPr lang="en-US" sz="780" dirty="0">
                <a:solidFill>
                  <a:srgbClr val="94A3B8"/>
                </a:solidFill>
              </a:rPr>
              <a:t>Sources: Readingraphics DevOps Handbook summary; DORA value stream mapping guide</a:t>
            </a:r>
            <a:endParaRPr lang="en-US" sz="7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502920" y="6291072"/>
            <a:ext cx="11155680" cy="0"/>
          </a:xfrm>
          <a:prstGeom prst="line">
            <a:avLst/>
          </a:prstGeom>
          <a:noFill/>
          <a:ln w="12700">
            <a:solidFill>
              <a:srgbClr val="334155"/>
            </a:solidFill>
            <a:prstDash val="solid"/>
          </a:ln>
        </p:spPr>
        <p:txBody>
          <a:bodyPr/>
          <a:lstStyle/>
          <a:p>
            <a:endParaRPr lang="en-US"/>
          </a:p>
        </p:txBody>
      </p:sp>
      <p:sp>
        <p:nvSpPr>
          <p:cNvPr id="3" name="Text 1"/>
          <p:cNvSpPr/>
          <p:nvPr/>
        </p:nvSpPr>
        <p:spPr>
          <a:xfrm>
            <a:off x="594360" y="347472"/>
            <a:ext cx="10881360" cy="411480"/>
          </a:xfrm>
          <a:prstGeom prst="rect">
            <a:avLst/>
          </a:prstGeom>
          <a:noFill/>
          <a:ln/>
        </p:spPr>
        <p:txBody>
          <a:bodyPr wrap="square" lIns="0" tIns="0" rIns="0" bIns="0" rtlCol="0" anchor="ct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Graphic: months vs. minutes</a:t>
            </a:r>
            <a:endParaRPr lang="en-US" sz="3100" dirty="0"/>
          </a:p>
        </p:txBody>
      </p:sp>
      <p:sp>
        <p:nvSpPr>
          <p:cNvPr id="4" name="Text 2"/>
          <p:cNvSpPr/>
          <p:nvPr/>
        </p:nvSpPr>
        <p:spPr>
          <a:xfrm>
            <a:off x="612648" y="832104"/>
            <a:ext cx="10607040" cy="310896"/>
          </a:xfrm>
          <a:prstGeom prst="rect">
            <a:avLst/>
          </a:prstGeom>
          <a:noFill/>
          <a:ln/>
        </p:spPr>
        <p:txBody>
          <a:bodyPr wrap="square" lIns="0" tIns="0" rIns="0" bIns="0" rtlCol="0" anchor="ctr"/>
          <a:lstStyle/>
          <a:p>
            <a:pPr marL="0" indent="0">
              <a:buNone/>
            </a:pPr>
            <a:endParaRPr lang="en-US" sz="1350" dirty="0"/>
          </a:p>
        </p:txBody>
      </p:sp>
      <p:sp>
        <p:nvSpPr>
          <p:cNvPr id="5" name="Text 3"/>
          <p:cNvSpPr/>
          <p:nvPr/>
        </p:nvSpPr>
        <p:spPr>
          <a:xfrm>
            <a:off x="822960" y="1389888"/>
            <a:ext cx="4846320" cy="347472"/>
          </a:xfrm>
          <a:prstGeom prst="rect">
            <a:avLst/>
          </a:prstGeom>
          <a:noFill/>
          <a:ln/>
        </p:spPr>
        <p:txBody>
          <a:bodyPr wrap="square" lIns="0" tIns="0" rIns="0" bIns="0" rtlCol="0" anchor="ctr"/>
          <a:lstStyle/>
          <a:p>
            <a:pPr marL="0" indent="0">
              <a:buNone/>
            </a:pPr>
            <a:r>
              <a:rPr lang="en-US" sz="1800" b="1" dirty="0">
                <a:solidFill>
                  <a:srgbClr val="FB7185"/>
                </a:solidFill>
              </a:rPr>
              <a:t>Common scenario</a:t>
            </a:r>
            <a:endParaRPr lang="en-US" sz="1800" dirty="0"/>
          </a:p>
        </p:txBody>
      </p:sp>
      <p:sp>
        <p:nvSpPr>
          <p:cNvPr id="6" name="Text 4"/>
          <p:cNvSpPr/>
          <p:nvPr/>
        </p:nvSpPr>
        <p:spPr>
          <a:xfrm>
            <a:off x="6629400" y="1389888"/>
            <a:ext cx="4389120" cy="347472"/>
          </a:xfrm>
          <a:prstGeom prst="rect">
            <a:avLst/>
          </a:prstGeom>
          <a:noFill/>
          <a:ln/>
        </p:spPr>
        <p:txBody>
          <a:bodyPr wrap="square" lIns="0" tIns="0" rIns="0" bIns="0" rtlCol="0" anchor="ctr"/>
          <a:lstStyle/>
          <a:p>
            <a:pPr marL="0" indent="0">
              <a:buNone/>
            </a:pPr>
            <a:r>
              <a:rPr lang="en-US" sz="1800" b="1" dirty="0">
                <a:solidFill>
                  <a:srgbClr val="34D399"/>
                </a:solidFill>
              </a:rPr>
              <a:t>DevOps ideal</a:t>
            </a:r>
            <a:endParaRPr lang="en-US" sz="1800" dirty="0"/>
          </a:p>
        </p:txBody>
      </p:sp>
      <p:sp>
        <p:nvSpPr>
          <p:cNvPr id="7" name="Text 5"/>
          <p:cNvSpPr/>
          <p:nvPr/>
        </p:nvSpPr>
        <p:spPr>
          <a:xfrm>
            <a:off x="594360" y="2057400"/>
            <a:ext cx="603504" cy="658368"/>
          </a:xfrm>
          <a:prstGeom prst="rect">
            <a:avLst/>
          </a:prstGeom>
          <a:solidFill>
            <a:srgbClr val="FB7185"/>
          </a:solidFill>
          <a:ln>
            <a:solidFill>
              <a:srgbClr val="FB7185"/>
            </a:solidFill>
          </a:ln>
        </p:spPr>
        <p:txBody>
          <a:bodyPr wrap="square" lIns="1016" tIns="1016" rIns="1016" bIns="1016" rtlCol="0" anchor="ctr">
            <a:normAutofit/>
          </a:bodyPr>
          <a:lstStyle/>
          <a:p>
            <a:pPr marL="0" indent="0" algn="ctr">
              <a:buNone/>
            </a:pPr>
            <a:r>
              <a:rPr lang="en-US" sz="900" b="1" dirty="0">
                <a:solidFill>
                  <a:srgbClr val="0B1220"/>
                </a:solidFill>
              </a:rPr>
              <a:t>Dev</a:t>
            </a:r>
            <a:endParaRPr lang="en-US" sz="900" dirty="0"/>
          </a:p>
        </p:txBody>
      </p:sp>
      <p:sp>
        <p:nvSpPr>
          <p:cNvPr id="8" name="Shape 6"/>
          <p:cNvSpPr/>
          <p:nvPr/>
        </p:nvSpPr>
        <p:spPr>
          <a:xfrm>
            <a:off x="1234440" y="2377440"/>
            <a:ext cx="91440" cy="0"/>
          </a:xfrm>
          <a:prstGeom prst="line">
            <a:avLst/>
          </a:prstGeom>
          <a:noFill/>
          <a:ln w="19050">
            <a:solidFill>
              <a:srgbClr val="94A3B8"/>
            </a:solidFill>
            <a:prstDash val="solid"/>
            <a:tailEnd type="triangle"/>
          </a:ln>
        </p:spPr>
        <p:txBody>
          <a:bodyPr/>
          <a:lstStyle/>
          <a:p>
            <a:endParaRPr lang="en-US"/>
          </a:p>
        </p:txBody>
      </p:sp>
      <p:sp>
        <p:nvSpPr>
          <p:cNvPr id="9" name="Text 7"/>
          <p:cNvSpPr/>
          <p:nvPr/>
        </p:nvSpPr>
        <p:spPr>
          <a:xfrm>
            <a:off x="1325880" y="2057400"/>
            <a:ext cx="621792" cy="658368"/>
          </a:xfrm>
          <a:prstGeom prst="rect">
            <a:avLst/>
          </a:prstGeom>
          <a:solidFill>
            <a:srgbClr val="334155"/>
          </a:solidFill>
          <a:ln>
            <a:solidFill>
              <a:srgbClr val="334155"/>
            </a:solidFill>
          </a:ln>
        </p:spPr>
        <p:txBody>
          <a:bodyPr wrap="square" lIns="1016" tIns="1016" rIns="1016" bIns="1016" rtlCol="0" anchor="ctr">
            <a:normAutofit/>
          </a:bodyPr>
          <a:lstStyle/>
          <a:p>
            <a:pPr marL="0" indent="0" algn="ctr">
              <a:buNone/>
            </a:pPr>
            <a:r>
              <a:rPr lang="en-US" sz="900" b="1" dirty="0">
                <a:solidFill>
                  <a:srgbClr val="F8FAFC"/>
                </a:solidFill>
              </a:rPr>
              <a:t>Queue</a:t>
            </a:r>
            <a:endParaRPr lang="en-US" sz="900" dirty="0"/>
          </a:p>
        </p:txBody>
      </p:sp>
      <p:sp>
        <p:nvSpPr>
          <p:cNvPr id="10" name="Shape 8"/>
          <p:cNvSpPr/>
          <p:nvPr/>
        </p:nvSpPr>
        <p:spPr>
          <a:xfrm>
            <a:off x="1984248" y="2377440"/>
            <a:ext cx="91440" cy="0"/>
          </a:xfrm>
          <a:prstGeom prst="line">
            <a:avLst/>
          </a:prstGeom>
          <a:noFill/>
          <a:ln w="19050">
            <a:solidFill>
              <a:srgbClr val="94A3B8"/>
            </a:solidFill>
            <a:prstDash val="solid"/>
            <a:tailEnd type="triangle"/>
          </a:ln>
        </p:spPr>
        <p:txBody>
          <a:bodyPr/>
          <a:lstStyle/>
          <a:p>
            <a:endParaRPr lang="en-US"/>
          </a:p>
        </p:txBody>
      </p:sp>
      <p:sp>
        <p:nvSpPr>
          <p:cNvPr id="11" name="Text 9"/>
          <p:cNvSpPr/>
          <p:nvPr/>
        </p:nvSpPr>
        <p:spPr>
          <a:xfrm>
            <a:off x="2057400" y="2057400"/>
            <a:ext cx="603504" cy="658368"/>
          </a:xfrm>
          <a:prstGeom prst="rect">
            <a:avLst/>
          </a:prstGeom>
          <a:solidFill>
            <a:srgbClr val="FB7185"/>
          </a:solidFill>
          <a:ln>
            <a:solidFill>
              <a:srgbClr val="FB7185"/>
            </a:solidFill>
          </a:ln>
        </p:spPr>
        <p:txBody>
          <a:bodyPr wrap="square" lIns="1016" tIns="1016" rIns="1016" bIns="1016" rtlCol="0" anchor="ctr">
            <a:normAutofit/>
          </a:bodyPr>
          <a:lstStyle/>
          <a:p>
            <a:pPr marL="0" indent="0" algn="ctr">
              <a:buNone/>
            </a:pPr>
            <a:r>
              <a:rPr lang="en-US" sz="900" b="1" dirty="0">
                <a:solidFill>
                  <a:srgbClr val="0B1220"/>
                </a:solidFill>
              </a:rPr>
              <a:t>Test</a:t>
            </a:r>
            <a:endParaRPr lang="en-US" sz="900" dirty="0"/>
          </a:p>
        </p:txBody>
      </p:sp>
      <p:sp>
        <p:nvSpPr>
          <p:cNvPr id="12" name="Shape 10"/>
          <p:cNvSpPr/>
          <p:nvPr/>
        </p:nvSpPr>
        <p:spPr>
          <a:xfrm>
            <a:off x="2697480" y="2377440"/>
            <a:ext cx="91440" cy="0"/>
          </a:xfrm>
          <a:prstGeom prst="line">
            <a:avLst/>
          </a:prstGeom>
          <a:noFill/>
          <a:ln w="19050">
            <a:solidFill>
              <a:srgbClr val="94A3B8"/>
            </a:solidFill>
            <a:prstDash val="solid"/>
            <a:tailEnd type="triangle"/>
          </a:ln>
        </p:spPr>
        <p:txBody>
          <a:bodyPr/>
          <a:lstStyle/>
          <a:p>
            <a:endParaRPr lang="en-US"/>
          </a:p>
        </p:txBody>
      </p:sp>
      <p:sp>
        <p:nvSpPr>
          <p:cNvPr id="13" name="Text 11"/>
          <p:cNvSpPr/>
          <p:nvPr/>
        </p:nvSpPr>
        <p:spPr>
          <a:xfrm>
            <a:off x="2788920" y="2057400"/>
            <a:ext cx="621792" cy="658368"/>
          </a:xfrm>
          <a:prstGeom prst="rect">
            <a:avLst/>
          </a:prstGeom>
          <a:solidFill>
            <a:srgbClr val="334155"/>
          </a:solidFill>
          <a:ln>
            <a:solidFill>
              <a:srgbClr val="334155"/>
            </a:solidFill>
          </a:ln>
        </p:spPr>
        <p:txBody>
          <a:bodyPr wrap="square" lIns="1016" tIns="1016" rIns="1016" bIns="1016" rtlCol="0" anchor="ctr">
            <a:normAutofit/>
          </a:bodyPr>
          <a:lstStyle/>
          <a:p>
            <a:pPr marL="0" indent="0" algn="ctr">
              <a:buNone/>
            </a:pPr>
            <a:r>
              <a:rPr lang="en-US" sz="900" b="1" dirty="0">
                <a:solidFill>
                  <a:srgbClr val="F8FAFC"/>
                </a:solidFill>
              </a:rPr>
              <a:t>Queue</a:t>
            </a:r>
            <a:endParaRPr lang="en-US" sz="900" dirty="0"/>
          </a:p>
        </p:txBody>
      </p:sp>
      <p:sp>
        <p:nvSpPr>
          <p:cNvPr id="14" name="Shape 12"/>
          <p:cNvSpPr/>
          <p:nvPr/>
        </p:nvSpPr>
        <p:spPr>
          <a:xfrm>
            <a:off x="3447288" y="2377440"/>
            <a:ext cx="91440" cy="0"/>
          </a:xfrm>
          <a:prstGeom prst="line">
            <a:avLst/>
          </a:prstGeom>
          <a:noFill/>
          <a:ln w="19050">
            <a:solidFill>
              <a:srgbClr val="94A3B8"/>
            </a:solidFill>
            <a:prstDash val="solid"/>
            <a:tailEnd type="triangle"/>
          </a:ln>
        </p:spPr>
        <p:txBody>
          <a:bodyPr/>
          <a:lstStyle/>
          <a:p>
            <a:endParaRPr lang="en-US"/>
          </a:p>
        </p:txBody>
      </p:sp>
      <p:sp>
        <p:nvSpPr>
          <p:cNvPr id="15" name="Text 13"/>
          <p:cNvSpPr/>
          <p:nvPr/>
        </p:nvSpPr>
        <p:spPr>
          <a:xfrm>
            <a:off x="3520440" y="2057400"/>
            <a:ext cx="932688" cy="658368"/>
          </a:xfrm>
          <a:prstGeom prst="rect">
            <a:avLst/>
          </a:prstGeom>
          <a:solidFill>
            <a:srgbClr val="FB7185"/>
          </a:solidFill>
          <a:ln>
            <a:solidFill>
              <a:srgbClr val="FB7185"/>
            </a:solidFill>
          </a:ln>
        </p:spPr>
        <p:txBody>
          <a:bodyPr wrap="square" lIns="1016" tIns="1016" rIns="1016" bIns="1016" rtlCol="0" anchor="ctr">
            <a:normAutofit/>
          </a:bodyPr>
          <a:lstStyle/>
          <a:p>
            <a:pPr marL="0" indent="0" algn="ctr">
              <a:buNone/>
            </a:pPr>
            <a:r>
              <a:rPr lang="en-US" sz="900" b="1" dirty="0">
                <a:solidFill>
                  <a:srgbClr val="0B1220"/>
                </a:solidFill>
              </a:rPr>
              <a:t>Change Board</a:t>
            </a:r>
            <a:endParaRPr lang="en-US" sz="900" dirty="0"/>
          </a:p>
        </p:txBody>
      </p:sp>
      <p:sp>
        <p:nvSpPr>
          <p:cNvPr id="16" name="Shape 14"/>
          <p:cNvSpPr/>
          <p:nvPr/>
        </p:nvSpPr>
        <p:spPr>
          <a:xfrm>
            <a:off x="4489704" y="2377440"/>
            <a:ext cx="91440" cy="0"/>
          </a:xfrm>
          <a:prstGeom prst="line">
            <a:avLst/>
          </a:prstGeom>
          <a:noFill/>
          <a:ln w="19050">
            <a:solidFill>
              <a:srgbClr val="94A3B8"/>
            </a:solidFill>
            <a:prstDash val="solid"/>
            <a:tailEnd type="triangle"/>
          </a:ln>
        </p:spPr>
        <p:txBody>
          <a:bodyPr/>
          <a:lstStyle/>
          <a:p>
            <a:endParaRPr lang="en-US"/>
          </a:p>
        </p:txBody>
      </p:sp>
      <p:sp>
        <p:nvSpPr>
          <p:cNvPr id="17" name="Text 15"/>
          <p:cNvSpPr/>
          <p:nvPr/>
        </p:nvSpPr>
        <p:spPr>
          <a:xfrm>
            <a:off x="4617720" y="2057400"/>
            <a:ext cx="621792" cy="658368"/>
          </a:xfrm>
          <a:prstGeom prst="rect">
            <a:avLst/>
          </a:prstGeom>
          <a:solidFill>
            <a:srgbClr val="334155"/>
          </a:solidFill>
          <a:ln>
            <a:solidFill>
              <a:srgbClr val="334155"/>
            </a:solidFill>
          </a:ln>
        </p:spPr>
        <p:txBody>
          <a:bodyPr wrap="square" lIns="1016" tIns="1016" rIns="1016" bIns="1016" rtlCol="0" anchor="ctr">
            <a:normAutofit/>
          </a:bodyPr>
          <a:lstStyle/>
          <a:p>
            <a:pPr marL="0" indent="0" algn="ctr">
              <a:buNone/>
            </a:pPr>
            <a:r>
              <a:rPr lang="en-US" sz="900" b="1" dirty="0">
                <a:solidFill>
                  <a:srgbClr val="F8FAFC"/>
                </a:solidFill>
              </a:rPr>
              <a:t>Queue</a:t>
            </a:r>
            <a:endParaRPr lang="en-US" sz="900" dirty="0"/>
          </a:p>
        </p:txBody>
      </p:sp>
      <p:sp>
        <p:nvSpPr>
          <p:cNvPr id="18" name="Shape 16"/>
          <p:cNvSpPr/>
          <p:nvPr/>
        </p:nvSpPr>
        <p:spPr>
          <a:xfrm>
            <a:off x="5276088" y="2377440"/>
            <a:ext cx="91440" cy="0"/>
          </a:xfrm>
          <a:prstGeom prst="line">
            <a:avLst/>
          </a:prstGeom>
          <a:noFill/>
          <a:ln w="19050">
            <a:solidFill>
              <a:srgbClr val="94A3B8"/>
            </a:solidFill>
            <a:prstDash val="solid"/>
            <a:tailEnd type="triangle"/>
          </a:ln>
        </p:spPr>
        <p:txBody>
          <a:bodyPr/>
          <a:lstStyle/>
          <a:p>
            <a:endParaRPr lang="en-US"/>
          </a:p>
        </p:txBody>
      </p:sp>
      <p:sp>
        <p:nvSpPr>
          <p:cNvPr id="19" name="Text 17"/>
          <p:cNvSpPr/>
          <p:nvPr/>
        </p:nvSpPr>
        <p:spPr>
          <a:xfrm>
            <a:off x="5349240" y="2057400"/>
            <a:ext cx="658368" cy="658368"/>
          </a:xfrm>
          <a:prstGeom prst="rect">
            <a:avLst/>
          </a:prstGeom>
          <a:solidFill>
            <a:srgbClr val="FB7185"/>
          </a:solidFill>
          <a:ln>
            <a:solidFill>
              <a:srgbClr val="FB7185"/>
            </a:solidFill>
          </a:ln>
        </p:spPr>
        <p:txBody>
          <a:bodyPr wrap="square" lIns="1016" tIns="1016" rIns="1016" bIns="1016" rtlCol="0" anchor="ctr">
            <a:normAutofit/>
          </a:bodyPr>
          <a:lstStyle/>
          <a:p>
            <a:pPr marL="0" indent="0" algn="ctr">
              <a:buNone/>
            </a:pPr>
            <a:r>
              <a:rPr lang="en-US" sz="900" b="1" dirty="0">
                <a:solidFill>
                  <a:srgbClr val="0B1220"/>
                </a:solidFill>
              </a:rPr>
              <a:t>Deploy</a:t>
            </a:r>
            <a:endParaRPr lang="en-US" sz="900" dirty="0"/>
          </a:p>
        </p:txBody>
      </p:sp>
      <p:sp>
        <p:nvSpPr>
          <p:cNvPr id="20" name="Text 18"/>
          <p:cNvSpPr/>
          <p:nvPr/>
        </p:nvSpPr>
        <p:spPr>
          <a:xfrm>
            <a:off x="896112" y="3090672"/>
            <a:ext cx="4480560" cy="475488"/>
          </a:xfrm>
          <a:prstGeom prst="rect">
            <a:avLst/>
          </a:prstGeom>
          <a:noFill/>
          <a:ln/>
        </p:spPr>
        <p:txBody>
          <a:bodyPr wrap="square" lIns="0" tIns="0" rIns="0" bIns="0" rtlCol="0" anchor="ctr"/>
          <a:lstStyle/>
          <a:p>
            <a:pPr marL="0" indent="0" algn="ctr">
              <a:buNone/>
            </a:pPr>
            <a:r>
              <a:rPr lang="en-US" sz="3200" b="1" dirty="0">
                <a:solidFill>
                  <a:srgbClr val="FB7185"/>
                </a:solidFill>
              </a:rPr>
              <a:t>Lead time: months</a:t>
            </a:r>
            <a:endParaRPr lang="en-US" sz="3200" dirty="0"/>
          </a:p>
        </p:txBody>
      </p:sp>
      <p:sp>
        <p:nvSpPr>
          <p:cNvPr id="21" name="Text 19"/>
          <p:cNvSpPr/>
          <p:nvPr/>
        </p:nvSpPr>
        <p:spPr>
          <a:xfrm>
            <a:off x="960120" y="3749040"/>
            <a:ext cx="4297680" cy="777240"/>
          </a:xfrm>
          <a:prstGeom prst="rect">
            <a:avLst/>
          </a:prstGeom>
          <a:noFill/>
          <a:ln/>
        </p:spPr>
        <p:txBody>
          <a:bodyPr wrap="square" lIns="0" tIns="0" rIns="0" bIns="0" rtlCol="0" anchor="ctr"/>
          <a:lstStyle/>
          <a:p>
            <a:pPr marL="0" indent="0" algn="ctr">
              <a:buNone/>
            </a:pPr>
            <a:r>
              <a:rPr lang="en-US" sz="1600" dirty="0">
                <a:solidFill>
                  <a:srgbClr val="CBD5E1"/>
                </a:solidFill>
              </a:rPr>
              <a:t>Lots of waiting, late quality checks, big releases, and painful merges.</a:t>
            </a:r>
            <a:endParaRPr lang="en-US" sz="1600" dirty="0"/>
          </a:p>
        </p:txBody>
      </p:sp>
      <p:sp>
        <p:nvSpPr>
          <p:cNvPr id="22" name="Text 20"/>
          <p:cNvSpPr/>
          <p:nvPr/>
        </p:nvSpPr>
        <p:spPr>
          <a:xfrm>
            <a:off x="6400800" y="2057400"/>
            <a:ext cx="868680" cy="658368"/>
          </a:xfrm>
          <a:prstGeom prst="rect">
            <a:avLst/>
          </a:prstGeom>
          <a:solidFill>
            <a:srgbClr val="38BDF8"/>
          </a:solidFill>
          <a:ln>
            <a:solidFill>
              <a:srgbClr val="38BDF8"/>
            </a:solidFill>
          </a:ln>
        </p:spPr>
        <p:txBody>
          <a:bodyPr wrap="square" lIns="1016" tIns="1016" rIns="1016" bIns="1016" rtlCol="0" anchor="ctr">
            <a:normAutofit/>
          </a:bodyPr>
          <a:lstStyle/>
          <a:p>
            <a:pPr marL="0" indent="0" algn="ctr">
              <a:buNone/>
            </a:pPr>
            <a:r>
              <a:rPr lang="en-US" sz="950" b="1" dirty="0">
                <a:solidFill>
                  <a:srgbClr val="0B1220"/>
                </a:solidFill>
              </a:rPr>
              <a:t>Commit</a:t>
            </a:r>
            <a:endParaRPr lang="en-US" sz="950" dirty="0"/>
          </a:p>
        </p:txBody>
      </p:sp>
      <p:sp>
        <p:nvSpPr>
          <p:cNvPr id="23" name="Shape 21"/>
          <p:cNvSpPr/>
          <p:nvPr/>
        </p:nvSpPr>
        <p:spPr>
          <a:xfrm>
            <a:off x="7150608" y="2377440"/>
            <a:ext cx="393192" cy="0"/>
          </a:xfrm>
          <a:prstGeom prst="line">
            <a:avLst/>
          </a:prstGeom>
          <a:noFill/>
          <a:ln w="25400">
            <a:solidFill>
              <a:srgbClr val="34D399"/>
            </a:solidFill>
            <a:prstDash val="solid"/>
            <a:tailEnd type="triangle"/>
          </a:ln>
        </p:spPr>
        <p:txBody>
          <a:bodyPr/>
          <a:lstStyle/>
          <a:p>
            <a:endParaRPr lang="en-US"/>
          </a:p>
        </p:txBody>
      </p:sp>
      <p:sp>
        <p:nvSpPr>
          <p:cNvPr id="24" name="Text 22"/>
          <p:cNvSpPr/>
          <p:nvPr/>
        </p:nvSpPr>
        <p:spPr>
          <a:xfrm>
            <a:off x="7388352" y="2057400"/>
            <a:ext cx="868680" cy="658368"/>
          </a:xfrm>
          <a:prstGeom prst="rect">
            <a:avLst/>
          </a:prstGeom>
          <a:solidFill>
            <a:srgbClr val="22D3EE"/>
          </a:solidFill>
          <a:ln>
            <a:solidFill>
              <a:srgbClr val="22D3EE"/>
            </a:solidFill>
          </a:ln>
        </p:spPr>
        <p:txBody>
          <a:bodyPr wrap="square" lIns="1016" tIns="1016" rIns="1016" bIns="1016" rtlCol="0" anchor="ctr">
            <a:normAutofit/>
          </a:bodyPr>
          <a:lstStyle/>
          <a:p>
            <a:pPr marL="0" indent="0" algn="ctr">
              <a:buNone/>
            </a:pPr>
            <a:r>
              <a:rPr lang="en-US" sz="950" b="1" dirty="0">
                <a:solidFill>
                  <a:srgbClr val="0B1220"/>
                </a:solidFill>
              </a:rPr>
              <a:t>Build</a:t>
            </a:r>
            <a:endParaRPr lang="en-US" sz="950" dirty="0"/>
          </a:p>
        </p:txBody>
      </p:sp>
      <p:sp>
        <p:nvSpPr>
          <p:cNvPr id="25" name="Shape 23"/>
          <p:cNvSpPr/>
          <p:nvPr/>
        </p:nvSpPr>
        <p:spPr>
          <a:xfrm>
            <a:off x="8138160" y="2377440"/>
            <a:ext cx="393192" cy="0"/>
          </a:xfrm>
          <a:prstGeom prst="line">
            <a:avLst/>
          </a:prstGeom>
          <a:noFill/>
          <a:ln w="25400">
            <a:solidFill>
              <a:srgbClr val="34D399"/>
            </a:solidFill>
            <a:prstDash val="solid"/>
            <a:tailEnd type="triangle"/>
          </a:ln>
        </p:spPr>
        <p:txBody>
          <a:bodyPr/>
          <a:lstStyle/>
          <a:p>
            <a:endParaRPr lang="en-US"/>
          </a:p>
        </p:txBody>
      </p:sp>
      <p:sp>
        <p:nvSpPr>
          <p:cNvPr id="26" name="Text 24"/>
          <p:cNvSpPr/>
          <p:nvPr/>
        </p:nvSpPr>
        <p:spPr>
          <a:xfrm>
            <a:off x="8375904" y="2057400"/>
            <a:ext cx="868680" cy="658368"/>
          </a:xfrm>
          <a:prstGeom prst="rect">
            <a:avLst/>
          </a:prstGeom>
          <a:solidFill>
            <a:srgbClr val="FBBF24"/>
          </a:solidFill>
          <a:ln>
            <a:solidFill>
              <a:srgbClr val="FBBF24"/>
            </a:solidFill>
          </a:ln>
        </p:spPr>
        <p:txBody>
          <a:bodyPr wrap="square" lIns="1016" tIns="1016" rIns="1016" bIns="1016" rtlCol="0" anchor="ctr">
            <a:normAutofit/>
          </a:bodyPr>
          <a:lstStyle/>
          <a:p>
            <a:pPr marL="0" indent="0" algn="ctr">
              <a:buNone/>
            </a:pPr>
            <a:r>
              <a:rPr lang="en-US" sz="950" b="1" dirty="0">
                <a:solidFill>
                  <a:srgbClr val="0B1220"/>
                </a:solidFill>
              </a:rPr>
              <a:t>Auto Test</a:t>
            </a:r>
            <a:endParaRPr lang="en-US" sz="950" dirty="0"/>
          </a:p>
        </p:txBody>
      </p:sp>
      <p:sp>
        <p:nvSpPr>
          <p:cNvPr id="27" name="Shape 25"/>
          <p:cNvSpPr/>
          <p:nvPr/>
        </p:nvSpPr>
        <p:spPr>
          <a:xfrm>
            <a:off x="9125712" y="2377440"/>
            <a:ext cx="393192" cy="0"/>
          </a:xfrm>
          <a:prstGeom prst="line">
            <a:avLst/>
          </a:prstGeom>
          <a:noFill/>
          <a:ln w="25400">
            <a:solidFill>
              <a:srgbClr val="34D399"/>
            </a:solidFill>
            <a:prstDash val="solid"/>
            <a:tailEnd type="triangle"/>
          </a:ln>
        </p:spPr>
        <p:txBody>
          <a:bodyPr/>
          <a:lstStyle/>
          <a:p>
            <a:endParaRPr lang="en-US"/>
          </a:p>
        </p:txBody>
      </p:sp>
      <p:sp>
        <p:nvSpPr>
          <p:cNvPr id="28" name="Text 26"/>
          <p:cNvSpPr/>
          <p:nvPr/>
        </p:nvSpPr>
        <p:spPr>
          <a:xfrm>
            <a:off x="9363456" y="2057400"/>
            <a:ext cx="868680" cy="658368"/>
          </a:xfrm>
          <a:prstGeom prst="rect">
            <a:avLst/>
          </a:prstGeom>
          <a:solidFill>
            <a:srgbClr val="F97316"/>
          </a:solidFill>
          <a:ln>
            <a:solidFill>
              <a:srgbClr val="F97316"/>
            </a:solidFill>
          </a:ln>
        </p:spPr>
        <p:txBody>
          <a:bodyPr wrap="square" lIns="1016" tIns="1016" rIns="1016" bIns="1016" rtlCol="0" anchor="ctr">
            <a:normAutofit/>
          </a:bodyPr>
          <a:lstStyle/>
          <a:p>
            <a:pPr marL="0" indent="0" algn="ctr">
              <a:buNone/>
            </a:pPr>
            <a:r>
              <a:rPr lang="en-US" sz="950" b="1" dirty="0">
                <a:solidFill>
                  <a:srgbClr val="0B1220"/>
                </a:solidFill>
              </a:rPr>
              <a:t>Deploy</a:t>
            </a:r>
            <a:endParaRPr lang="en-US" sz="950" dirty="0"/>
          </a:p>
        </p:txBody>
      </p:sp>
      <p:sp>
        <p:nvSpPr>
          <p:cNvPr id="29" name="Shape 27"/>
          <p:cNvSpPr/>
          <p:nvPr/>
        </p:nvSpPr>
        <p:spPr>
          <a:xfrm>
            <a:off x="10113264" y="2377440"/>
            <a:ext cx="393192" cy="0"/>
          </a:xfrm>
          <a:prstGeom prst="line">
            <a:avLst/>
          </a:prstGeom>
          <a:noFill/>
          <a:ln w="25400">
            <a:solidFill>
              <a:srgbClr val="34D399"/>
            </a:solidFill>
            <a:prstDash val="solid"/>
            <a:tailEnd type="triangle"/>
          </a:ln>
        </p:spPr>
        <p:txBody>
          <a:bodyPr/>
          <a:lstStyle/>
          <a:p>
            <a:endParaRPr lang="en-US"/>
          </a:p>
        </p:txBody>
      </p:sp>
      <p:sp>
        <p:nvSpPr>
          <p:cNvPr id="30" name="Text 28"/>
          <p:cNvSpPr/>
          <p:nvPr/>
        </p:nvSpPr>
        <p:spPr>
          <a:xfrm>
            <a:off x="10351008" y="2057400"/>
            <a:ext cx="868680" cy="658368"/>
          </a:xfrm>
          <a:prstGeom prst="rect">
            <a:avLst/>
          </a:prstGeom>
          <a:solidFill>
            <a:srgbClr val="34D399"/>
          </a:solidFill>
          <a:ln>
            <a:solidFill>
              <a:srgbClr val="34D399"/>
            </a:solidFill>
          </a:ln>
        </p:spPr>
        <p:txBody>
          <a:bodyPr wrap="square" lIns="1016" tIns="1016" rIns="1016" bIns="1016" rtlCol="0" anchor="ctr">
            <a:normAutofit/>
          </a:bodyPr>
          <a:lstStyle/>
          <a:p>
            <a:pPr marL="0" indent="0" algn="ctr">
              <a:buNone/>
            </a:pPr>
            <a:r>
              <a:rPr lang="en-US" sz="950" b="1" dirty="0">
                <a:solidFill>
                  <a:srgbClr val="0B1220"/>
                </a:solidFill>
              </a:rPr>
              <a:t>Monitor</a:t>
            </a:r>
            <a:endParaRPr lang="en-US" sz="950" dirty="0"/>
          </a:p>
        </p:txBody>
      </p:sp>
      <p:sp>
        <p:nvSpPr>
          <p:cNvPr id="31" name="Text 29"/>
          <p:cNvSpPr/>
          <p:nvPr/>
        </p:nvSpPr>
        <p:spPr>
          <a:xfrm>
            <a:off x="6675120" y="3090672"/>
            <a:ext cx="4206240" cy="475488"/>
          </a:xfrm>
          <a:prstGeom prst="rect">
            <a:avLst/>
          </a:prstGeom>
          <a:noFill/>
          <a:ln/>
        </p:spPr>
        <p:txBody>
          <a:bodyPr wrap="square" lIns="0" tIns="0" rIns="0" bIns="0" rtlCol="0" anchor="ctr"/>
          <a:lstStyle/>
          <a:p>
            <a:pPr marL="0" indent="0" algn="ctr">
              <a:buNone/>
            </a:pPr>
            <a:r>
              <a:rPr lang="en-US" sz="3200" b="1" dirty="0">
                <a:solidFill>
                  <a:srgbClr val="34D399"/>
                </a:solidFill>
              </a:rPr>
              <a:t>Lead time: minutes</a:t>
            </a:r>
            <a:endParaRPr lang="en-US" sz="3200" dirty="0"/>
          </a:p>
        </p:txBody>
      </p:sp>
      <p:sp>
        <p:nvSpPr>
          <p:cNvPr id="32" name="Text 30"/>
          <p:cNvSpPr/>
          <p:nvPr/>
        </p:nvSpPr>
        <p:spPr>
          <a:xfrm>
            <a:off x="6812280" y="3749040"/>
            <a:ext cx="3931920" cy="777240"/>
          </a:xfrm>
          <a:prstGeom prst="rect">
            <a:avLst/>
          </a:prstGeom>
          <a:noFill/>
          <a:ln/>
        </p:spPr>
        <p:txBody>
          <a:bodyPr wrap="square" lIns="0" tIns="0" rIns="0" bIns="0" rtlCol="0" anchor="ctr"/>
          <a:lstStyle/>
          <a:p>
            <a:pPr marL="0" indent="0" algn="ctr">
              <a:buNone/>
            </a:pPr>
            <a:r>
              <a:rPr lang="en-US" sz="1600" dirty="0">
                <a:solidFill>
                  <a:srgbClr val="CBD5E1"/>
                </a:solidFill>
              </a:rPr>
              <a:t>Small changes, automation, fast feedback, and safer releases.</a:t>
            </a:r>
            <a:endParaRPr lang="en-US" sz="1600" dirty="0"/>
          </a:p>
        </p:txBody>
      </p:sp>
      <p:sp>
        <p:nvSpPr>
          <p:cNvPr id="33" name="Shape 31"/>
          <p:cNvSpPr/>
          <p:nvPr/>
        </p:nvSpPr>
        <p:spPr>
          <a:xfrm>
            <a:off x="5961888" y="1417320"/>
            <a:ext cx="0" cy="3977640"/>
          </a:xfrm>
          <a:prstGeom prst="line">
            <a:avLst/>
          </a:prstGeom>
          <a:noFill/>
          <a:ln w="25400">
            <a:solidFill>
              <a:srgbClr val="334155">
                <a:alpha val="80000"/>
              </a:srgbClr>
            </a:solidFill>
            <a:prstDash val="solid"/>
          </a:ln>
        </p:spPr>
        <p:txBody>
          <a:bodyPr/>
          <a:lstStyle/>
          <a:p>
            <a:endParaRPr lang="en-US"/>
          </a:p>
        </p:txBody>
      </p:sp>
      <p:sp>
        <p:nvSpPr>
          <p:cNvPr id="34" name="Text 32"/>
          <p:cNvSpPr/>
          <p:nvPr/>
        </p:nvSpPr>
        <p:spPr>
          <a:xfrm>
            <a:off x="594360" y="6455664"/>
            <a:ext cx="3291840" cy="219456"/>
          </a:xfrm>
          <a:prstGeom prst="rect">
            <a:avLst/>
          </a:prstGeom>
          <a:noFill/>
          <a:ln/>
        </p:spPr>
        <p:txBody>
          <a:bodyPr wrap="square" lIns="0" tIns="0" rIns="0" bIns="0" rtlCol="0" anchor="ctr"/>
          <a:lstStyle/>
          <a:p>
            <a:pPr marL="0" indent="0">
              <a:buNone/>
            </a:pPr>
            <a:r>
              <a:rPr lang="en-US" sz="850" dirty="0">
                <a:solidFill>
                  <a:srgbClr val="94A3B8"/>
                </a:solidFill>
              </a:rPr>
              <a:t>Technology Value Stream  •  6</a:t>
            </a:r>
            <a:endParaRPr lang="en-US" sz="850" dirty="0"/>
          </a:p>
        </p:txBody>
      </p:sp>
      <p:sp>
        <p:nvSpPr>
          <p:cNvPr id="35" name="Text 33"/>
          <p:cNvSpPr/>
          <p:nvPr/>
        </p:nvSpPr>
        <p:spPr>
          <a:xfrm>
            <a:off x="4572000" y="6437376"/>
            <a:ext cx="7086600" cy="256032"/>
          </a:xfrm>
          <a:prstGeom prst="rect">
            <a:avLst/>
          </a:prstGeom>
          <a:noFill/>
          <a:ln/>
        </p:spPr>
        <p:txBody>
          <a:bodyPr wrap="square" lIns="0" tIns="0" rIns="0" bIns="0" rtlCol="0" anchor="ctr"/>
          <a:lstStyle/>
          <a:p>
            <a:pPr marL="0" indent="0" algn="r">
              <a:buNone/>
            </a:pPr>
            <a:r>
              <a:rPr lang="en-US" sz="780" dirty="0">
                <a:solidFill>
                  <a:srgbClr val="94A3B8"/>
                </a:solidFill>
              </a:rPr>
              <a:t>Graphic based on course textbook p. 10; DORA value stream mapping guidance</a:t>
            </a:r>
            <a:endParaRPr lang="en-US" sz="7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502920" y="6291072"/>
            <a:ext cx="11155680" cy="0"/>
          </a:xfrm>
          <a:prstGeom prst="line">
            <a:avLst/>
          </a:prstGeom>
          <a:noFill/>
          <a:ln w="12700">
            <a:solidFill>
              <a:srgbClr val="334155"/>
            </a:solidFill>
            <a:prstDash val="solid"/>
          </a:ln>
        </p:spPr>
        <p:txBody>
          <a:bodyPr/>
          <a:lstStyle/>
          <a:p>
            <a:endParaRPr lang="en-US"/>
          </a:p>
        </p:txBody>
      </p:sp>
      <p:sp>
        <p:nvSpPr>
          <p:cNvPr id="3" name="Text 1"/>
          <p:cNvSpPr/>
          <p:nvPr/>
        </p:nvSpPr>
        <p:spPr>
          <a:xfrm>
            <a:off x="594360" y="347472"/>
            <a:ext cx="10881360" cy="411480"/>
          </a:xfrm>
          <a:prstGeom prst="rect">
            <a:avLst/>
          </a:prstGeom>
          <a:noFill/>
          <a:ln/>
        </p:spPr>
        <p:txBody>
          <a:bodyPr wrap="square" lIns="0" tIns="0" rIns="0" bIns="0" rtlCol="0" anchor="ct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The DevOps ideal: deployment lead times of minutes</a:t>
            </a:r>
            <a:endParaRPr lang="en-US" sz="3100" dirty="0"/>
          </a:p>
        </p:txBody>
      </p:sp>
      <p:sp>
        <p:nvSpPr>
          <p:cNvPr id="4" name="Text 2"/>
          <p:cNvSpPr/>
          <p:nvPr/>
        </p:nvSpPr>
        <p:spPr>
          <a:xfrm>
            <a:off x="612648" y="832104"/>
            <a:ext cx="10607040" cy="310896"/>
          </a:xfrm>
          <a:prstGeom prst="rect">
            <a:avLst/>
          </a:prstGeom>
          <a:noFill/>
          <a:ln/>
        </p:spPr>
        <p:txBody>
          <a:bodyPr wrap="square" lIns="0" tIns="0" rIns="0" bIns="0" rtlCol="0" anchor="ctr"/>
          <a:lstStyle/>
          <a:p>
            <a:pPr marL="0" indent="0">
              <a:buNone/>
            </a:pPr>
            <a:endParaRPr lang="en-US" sz="1350" dirty="0"/>
          </a:p>
        </p:txBody>
      </p:sp>
      <p:sp>
        <p:nvSpPr>
          <p:cNvPr id="5" name="Text 3"/>
          <p:cNvSpPr/>
          <p:nvPr/>
        </p:nvSpPr>
        <p:spPr>
          <a:xfrm>
            <a:off x="777240" y="1417320"/>
            <a:ext cx="3840480" cy="384048"/>
          </a:xfrm>
          <a:prstGeom prst="rect">
            <a:avLst/>
          </a:prstGeom>
          <a:noFill/>
          <a:ln/>
        </p:spPr>
        <p:txBody>
          <a:bodyPr wrap="square" lIns="0" tIns="0" rIns="0" bIns="0" rtlCol="0" anchor="ctr"/>
          <a:lstStyle/>
          <a:p>
            <a:pPr marL="0" indent="0">
              <a:buNone/>
            </a:pPr>
            <a:r>
              <a:rPr lang="en-US" sz="2500" b="1" dirty="0">
                <a:solidFill>
                  <a:srgbClr val="F8FAFC"/>
                </a:solidFill>
              </a:rPr>
              <a:t>What has to change?</a:t>
            </a:r>
            <a:endParaRPr lang="en-US" sz="2500" dirty="0"/>
          </a:p>
        </p:txBody>
      </p:sp>
      <p:sp>
        <p:nvSpPr>
          <p:cNvPr id="6" name="Text 4"/>
          <p:cNvSpPr/>
          <p:nvPr/>
        </p:nvSpPr>
        <p:spPr>
          <a:xfrm>
            <a:off x="868680" y="2057400"/>
            <a:ext cx="1874520" cy="566928"/>
          </a:xfrm>
          <a:prstGeom prst="rect">
            <a:avLst/>
          </a:prstGeom>
          <a:solidFill>
            <a:srgbClr val="22D3EE"/>
          </a:solidFill>
          <a:ln>
            <a:solidFill>
              <a:srgbClr val="22D3EE"/>
            </a:solidFill>
          </a:ln>
        </p:spPr>
        <p:txBody>
          <a:bodyPr wrap="square" lIns="1016" tIns="1016" rIns="1016" bIns="1016" rtlCol="0" anchor="ctr">
            <a:normAutofit/>
          </a:bodyPr>
          <a:lstStyle/>
          <a:p>
            <a:pPr marL="0" indent="0" algn="ctr">
              <a:buNone/>
            </a:pPr>
            <a:r>
              <a:rPr lang="en-US" sz="1400" b="1" dirty="0">
                <a:solidFill>
                  <a:srgbClr val="0B1220"/>
                </a:solidFill>
              </a:rPr>
              <a:t>Small batches</a:t>
            </a:r>
            <a:endParaRPr lang="en-US" sz="1400" dirty="0"/>
          </a:p>
        </p:txBody>
      </p:sp>
      <p:sp>
        <p:nvSpPr>
          <p:cNvPr id="7" name="Text 5"/>
          <p:cNvSpPr/>
          <p:nvPr/>
        </p:nvSpPr>
        <p:spPr>
          <a:xfrm>
            <a:off x="2944368" y="2075688"/>
            <a:ext cx="3154680" cy="868680"/>
          </a:xfrm>
          <a:prstGeom prst="rect">
            <a:avLst/>
          </a:prstGeom>
          <a:noFill/>
          <a:ln/>
        </p:spPr>
        <p:txBody>
          <a:bodyPr wrap="square" lIns="254" tIns="254" rIns="254" bIns="254" rtlCol="0" anchor="ctr">
            <a:normAutofit/>
          </a:bodyPr>
          <a:lstStyle/>
          <a:p>
            <a:pPr marL="0" indent="0">
              <a:buNone/>
            </a:pPr>
            <a:r>
              <a:rPr lang="en-US" sz="1550" dirty="0">
                <a:solidFill>
                  <a:srgbClr val="CBD5E1"/>
                </a:solidFill>
              </a:rPr>
              <a:t>Check in smaller changes so each release is easier to understand and fix.</a:t>
            </a:r>
            <a:endParaRPr lang="en-US" sz="1550" dirty="0"/>
          </a:p>
        </p:txBody>
      </p:sp>
      <p:sp>
        <p:nvSpPr>
          <p:cNvPr id="8" name="Text 6"/>
          <p:cNvSpPr/>
          <p:nvPr/>
        </p:nvSpPr>
        <p:spPr>
          <a:xfrm>
            <a:off x="6355080" y="2057400"/>
            <a:ext cx="1874520" cy="566928"/>
          </a:xfrm>
          <a:prstGeom prst="rect">
            <a:avLst/>
          </a:prstGeom>
          <a:solidFill>
            <a:srgbClr val="F97316"/>
          </a:solidFill>
          <a:ln>
            <a:solidFill>
              <a:srgbClr val="F97316"/>
            </a:solidFill>
          </a:ln>
        </p:spPr>
        <p:txBody>
          <a:bodyPr wrap="square" lIns="1016" tIns="1016" rIns="1016" bIns="1016" rtlCol="0" anchor="ctr">
            <a:normAutofit/>
          </a:bodyPr>
          <a:lstStyle/>
          <a:p>
            <a:pPr marL="0" indent="0" algn="ctr">
              <a:buNone/>
            </a:pPr>
            <a:r>
              <a:rPr lang="en-US" sz="1400" b="1" dirty="0">
                <a:solidFill>
                  <a:srgbClr val="0B1220"/>
                </a:solidFill>
              </a:rPr>
              <a:t>Automation</a:t>
            </a:r>
            <a:endParaRPr lang="en-US" sz="1400" dirty="0"/>
          </a:p>
        </p:txBody>
      </p:sp>
      <p:sp>
        <p:nvSpPr>
          <p:cNvPr id="9" name="Text 7"/>
          <p:cNvSpPr/>
          <p:nvPr/>
        </p:nvSpPr>
        <p:spPr>
          <a:xfrm>
            <a:off x="8430768" y="2075688"/>
            <a:ext cx="3154680" cy="868680"/>
          </a:xfrm>
          <a:prstGeom prst="rect">
            <a:avLst/>
          </a:prstGeom>
          <a:noFill/>
          <a:ln/>
        </p:spPr>
        <p:txBody>
          <a:bodyPr wrap="square" lIns="254" tIns="254" rIns="254" bIns="254" rtlCol="0" anchor="ctr">
            <a:normAutofit/>
          </a:bodyPr>
          <a:lstStyle/>
          <a:p>
            <a:pPr marL="0" indent="0">
              <a:buNone/>
            </a:pPr>
            <a:r>
              <a:rPr lang="en-US" sz="1550" dirty="0">
                <a:solidFill>
                  <a:srgbClr val="CBD5E1"/>
                </a:solidFill>
              </a:rPr>
              <a:t>Use CI/CD, automated tests, and repeatable deployment steps.</a:t>
            </a:r>
            <a:endParaRPr lang="en-US" sz="1550" dirty="0"/>
          </a:p>
        </p:txBody>
      </p:sp>
      <p:sp>
        <p:nvSpPr>
          <p:cNvPr id="10" name="Text 8"/>
          <p:cNvSpPr/>
          <p:nvPr/>
        </p:nvSpPr>
        <p:spPr>
          <a:xfrm>
            <a:off x="868680" y="4069080"/>
            <a:ext cx="1874520" cy="566928"/>
          </a:xfrm>
          <a:prstGeom prst="rect">
            <a:avLst/>
          </a:prstGeom>
          <a:solidFill>
            <a:srgbClr val="34D399"/>
          </a:solidFill>
          <a:ln>
            <a:solidFill>
              <a:srgbClr val="34D399"/>
            </a:solidFill>
          </a:ln>
        </p:spPr>
        <p:txBody>
          <a:bodyPr wrap="square" lIns="1016" tIns="1016" rIns="1016" bIns="1016" rtlCol="0" anchor="ctr">
            <a:normAutofit/>
          </a:bodyPr>
          <a:lstStyle/>
          <a:p>
            <a:pPr marL="0" indent="0" algn="ctr">
              <a:buNone/>
            </a:pPr>
            <a:r>
              <a:rPr lang="en-US" sz="1400" b="1" dirty="0">
                <a:solidFill>
                  <a:srgbClr val="0B1220"/>
                </a:solidFill>
              </a:rPr>
              <a:t>Fast feedback</a:t>
            </a:r>
            <a:endParaRPr lang="en-US" sz="1400" dirty="0"/>
          </a:p>
        </p:txBody>
      </p:sp>
      <p:sp>
        <p:nvSpPr>
          <p:cNvPr id="11" name="Text 9"/>
          <p:cNvSpPr/>
          <p:nvPr/>
        </p:nvSpPr>
        <p:spPr>
          <a:xfrm>
            <a:off x="2944368" y="4087368"/>
            <a:ext cx="3154680" cy="868680"/>
          </a:xfrm>
          <a:prstGeom prst="rect">
            <a:avLst/>
          </a:prstGeom>
          <a:noFill/>
          <a:ln/>
        </p:spPr>
        <p:txBody>
          <a:bodyPr wrap="square" lIns="254" tIns="254" rIns="254" bIns="254" rtlCol="0" anchor="ctr">
            <a:normAutofit/>
          </a:bodyPr>
          <a:lstStyle/>
          <a:p>
            <a:pPr marL="0" indent="0">
              <a:buNone/>
            </a:pPr>
            <a:r>
              <a:rPr lang="en-US" sz="1550" dirty="0">
                <a:solidFill>
                  <a:srgbClr val="CBD5E1"/>
                </a:solidFill>
              </a:rPr>
              <a:t>Make errors visible quickly with tests, logs, telemetry, and monitoring.</a:t>
            </a:r>
            <a:endParaRPr lang="en-US" sz="1550" dirty="0"/>
          </a:p>
        </p:txBody>
      </p:sp>
      <p:sp>
        <p:nvSpPr>
          <p:cNvPr id="12" name="Text 10"/>
          <p:cNvSpPr/>
          <p:nvPr/>
        </p:nvSpPr>
        <p:spPr>
          <a:xfrm>
            <a:off x="6355080" y="4069080"/>
            <a:ext cx="1874520" cy="566928"/>
          </a:xfrm>
          <a:prstGeom prst="rect">
            <a:avLst/>
          </a:prstGeom>
          <a:solidFill>
            <a:srgbClr val="A78BFA"/>
          </a:solidFill>
          <a:ln>
            <a:solidFill>
              <a:srgbClr val="A78BFA"/>
            </a:solidFill>
          </a:ln>
        </p:spPr>
        <p:txBody>
          <a:bodyPr wrap="square" lIns="1016" tIns="1016" rIns="1016" bIns="1016" rtlCol="0" anchor="ctr">
            <a:normAutofit/>
          </a:bodyPr>
          <a:lstStyle/>
          <a:p>
            <a:pPr marL="0" indent="0" algn="ctr">
              <a:buNone/>
            </a:pPr>
            <a:r>
              <a:rPr lang="en-US" sz="1400" b="1" dirty="0">
                <a:solidFill>
                  <a:srgbClr val="0B1220"/>
                </a:solidFill>
              </a:rPr>
              <a:t>Modular design</a:t>
            </a:r>
            <a:endParaRPr lang="en-US" sz="1400" dirty="0"/>
          </a:p>
        </p:txBody>
      </p:sp>
      <p:sp>
        <p:nvSpPr>
          <p:cNvPr id="13" name="Text 11"/>
          <p:cNvSpPr/>
          <p:nvPr/>
        </p:nvSpPr>
        <p:spPr>
          <a:xfrm>
            <a:off x="8430768" y="4087368"/>
            <a:ext cx="3154680" cy="868680"/>
          </a:xfrm>
          <a:prstGeom prst="rect">
            <a:avLst/>
          </a:prstGeom>
          <a:noFill/>
          <a:ln/>
        </p:spPr>
        <p:txBody>
          <a:bodyPr wrap="square" lIns="254" tIns="254" rIns="254" bIns="254" rtlCol="0" anchor="ctr">
            <a:normAutofit/>
          </a:bodyPr>
          <a:lstStyle/>
          <a:p>
            <a:pPr marL="0" indent="0">
              <a:buNone/>
            </a:pPr>
            <a:r>
              <a:rPr lang="en-US" sz="1550" dirty="0">
                <a:solidFill>
                  <a:srgbClr val="CBD5E1"/>
                </a:solidFill>
              </a:rPr>
              <a:t>Use loosely-coupled architecture so one change does not break everything.</a:t>
            </a:r>
            <a:endParaRPr lang="en-US" sz="1550" dirty="0"/>
          </a:p>
        </p:txBody>
      </p:sp>
      <p:sp>
        <p:nvSpPr>
          <p:cNvPr id="14" name="Text 12"/>
          <p:cNvSpPr/>
          <p:nvPr/>
        </p:nvSpPr>
        <p:spPr>
          <a:xfrm>
            <a:off x="960120" y="5596128"/>
            <a:ext cx="10149840" cy="347472"/>
          </a:xfrm>
          <a:prstGeom prst="rect">
            <a:avLst/>
          </a:prstGeom>
          <a:noFill/>
          <a:ln/>
        </p:spPr>
        <p:txBody>
          <a:bodyPr wrap="square" lIns="0" tIns="0" rIns="0" bIns="0" rtlCol="0" anchor="ctr"/>
          <a:lstStyle/>
          <a:p>
            <a:pPr marL="0" indent="0" algn="ctr">
              <a:buNone/>
            </a:pPr>
            <a:r>
              <a:rPr lang="en-US" sz="1800" b="1" dirty="0">
                <a:solidFill>
                  <a:srgbClr val="F8FAFC"/>
                </a:solidFill>
              </a:rPr>
              <a:t>When the pipeline is healthy, developers can integrate, validate, and deploy changes without waiting weeks for feedback.</a:t>
            </a:r>
            <a:endParaRPr lang="en-US" sz="1800" dirty="0"/>
          </a:p>
        </p:txBody>
      </p:sp>
      <p:sp>
        <p:nvSpPr>
          <p:cNvPr id="15" name="Text 13"/>
          <p:cNvSpPr/>
          <p:nvPr/>
        </p:nvSpPr>
        <p:spPr>
          <a:xfrm>
            <a:off x="594360" y="6455664"/>
            <a:ext cx="3291840" cy="219456"/>
          </a:xfrm>
          <a:prstGeom prst="rect">
            <a:avLst/>
          </a:prstGeom>
          <a:noFill/>
          <a:ln/>
        </p:spPr>
        <p:txBody>
          <a:bodyPr wrap="square" lIns="0" tIns="0" rIns="0" bIns="0" rtlCol="0" anchor="ctr"/>
          <a:lstStyle/>
          <a:p>
            <a:pPr marL="0" indent="0">
              <a:buNone/>
            </a:pPr>
            <a:r>
              <a:rPr lang="en-US" sz="850" dirty="0">
                <a:solidFill>
                  <a:srgbClr val="94A3B8"/>
                </a:solidFill>
              </a:rPr>
              <a:t>Technology Value Stream  •  7</a:t>
            </a:r>
            <a:endParaRPr lang="en-US" sz="850" dirty="0"/>
          </a:p>
        </p:txBody>
      </p:sp>
      <p:sp>
        <p:nvSpPr>
          <p:cNvPr id="16" name="Text 14"/>
          <p:cNvSpPr/>
          <p:nvPr/>
        </p:nvSpPr>
        <p:spPr>
          <a:xfrm>
            <a:off x="4572000" y="6437376"/>
            <a:ext cx="7086600" cy="256032"/>
          </a:xfrm>
          <a:prstGeom prst="rect">
            <a:avLst/>
          </a:prstGeom>
          <a:noFill/>
          <a:ln/>
        </p:spPr>
        <p:txBody>
          <a:bodyPr wrap="square" lIns="0" tIns="0" rIns="0" bIns="0" rtlCol="0" anchor="ctr"/>
          <a:lstStyle/>
          <a:p>
            <a:pPr marL="0" indent="0" algn="r">
              <a:buNone/>
            </a:pPr>
            <a:r>
              <a:rPr lang="en-US" sz="780" dirty="0">
                <a:solidFill>
                  <a:srgbClr val="94A3B8"/>
                </a:solidFill>
              </a:rPr>
              <a:t>Sources: Course textbook p. 10; Red Green Refactor; Google Cloud Four Keys</a:t>
            </a:r>
            <a:endParaRPr lang="en-US" sz="7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502920" y="6291072"/>
            <a:ext cx="11155680" cy="0"/>
          </a:xfrm>
          <a:prstGeom prst="line">
            <a:avLst/>
          </a:prstGeom>
          <a:noFill/>
          <a:ln w="12700">
            <a:solidFill>
              <a:srgbClr val="334155"/>
            </a:solidFill>
            <a:prstDash val="solid"/>
          </a:ln>
        </p:spPr>
        <p:txBody>
          <a:bodyPr/>
          <a:lstStyle/>
          <a:p>
            <a:endParaRPr lang="en-US"/>
          </a:p>
        </p:txBody>
      </p:sp>
      <p:sp>
        <p:nvSpPr>
          <p:cNvPr id="3" name="Text 1"/>
          <p:cNvSpPr/>
          <p:nvPr/>
        </p:nvSpPr>
        <p:spPr>
          <a:xfrm>
            <a:off x="594360" y="347472"/>
            <a:ext cx="10881360" cy="411480"/>
          </a:xfrm>
          <a:prstGeom prst="rect">
            <a:avLst/>
          </a:prstGeom>
          <a:noFill/>
          <a:ln/>
        </p:spPr>
        <p:txBody>
          <a:bodyPr wrap="square" lIns="0" tIns="0" rIns="0" bIns="0" rtlCol="0" anchor="ct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Measuring the value stream</a:t>
            </a:r>
            <a:endParaRPr lang="en-US" sz="3100" dirty="0"/>
          </a:p>
        </p:txBody>
      </p:sp>
      <p:sp>
        <p:nvSpPr>
          <p:cNvPr id="4" name="Text 2"/>
          <p:cNvSpPr/>
          <p:nvPr/>
        </p:nvSpPr>
        <p:spPr>
          <a:xfrm>
            <a:off x="612648" y="832104"/>
            <a:ext cx="10607040" cy="310896"/>
          </a:xfrm>
          <a:prstGeom prst="rect">
            <a:avLst/>
          </a:prstGeom>
          <a:noFill/>
          <a:ln/>
        </p:spPr>
        <p:txBody>
          <a:bodyPr wrap="square" lIns="0" tIns="0" rIns="0" bIns="0" rtlCol="0" anchor="ctr"/>
          <a:lstStyle/>
          <a:p>
            <a:pPr marL="0" indent="0">
              <a:buNone/>
            </a:pPr>
            <a:endParaRPr lang="en-US" sz="1350" dirty="0"/>
          </a:p>
        </p:txBody>
      </p:sp>
      <p:sp>
        <p:nvSpPr>
          <p:cNvPr id="5" name="Text 3"/>
          <p:cNvSpPr/>
          <p:nvPr/>
        </p:nvSpPr>
        <p:spPr>
          <a:xfrm>
            <a:off x="822960" y="1371600"/>
            <a:ext cx="2743200" cy="347472"/>
          </a:xfrm>
          <a:prstGeom prst="rect">
            <a:avLst/>
          </a:prstGeom>
          <a:noFill/>
          <a:ln/>
        </p:spPr>
        <p:txBody>
          <a:bodyPr wrap="square" lIns="0" tIns="0" rIns="0" bIns="0" rtlCol="0" anchor="ctr"/>
          <a:lstStyle/>
          <a:p>
            <a:pPr marL="0" indent="0">
              <a:buNone/>
            </a:pPr>
            <a:r>
              <a:rPr lang="en-US" sz="2200" b="1" dirty="0">
                <a:solidFill>
                  <a:srgbClr val="F8FAFC"/>
                </a:solidFill>
              </a:rPr>
              <a:t>Useful measures</a:t>
            </a:r>
            <a:endParaRPr lang="en-US" sz="2200" dirty="0"/>
          </a:p>
        </p:txBody>
      </p:sp>
      <p:sp>
        <p:nvSpPr>
          <p:cNvPr id="6" name="Text 4"/>
          <p:cNvSpPr/>
          <p:nvPr/>
        </p:nvSpPr>
        <p:spPr>
          <a:xfrm>
            <a:off x="822960" y="1874520"/>
            <a:ext cx="2331720" cy="502920"/>
          </a:xfrm>
          <a:prstGeom prst="rect">
            <a:avLst/>
          </a:prstGeom>
          <a:solidFill>
            <a:srgbClr val="22D3EE"/>
          </a:solidFill>
          <a:ln>
            <a:solidFill>
              <a:srgbClr val="22D3EE"/>
            </a:solidFill>
          </a:ln>
        </p:spPr>
        <p:txBody>
          <a:bodyPr wrap="square" lIns="1016" tIns="1016" rIns="1016" bIns="1016" rtlCol="0" anchor="ctr">
            <a:normAutofit/>
          </a:bodyPr>
          <a:lstStyle/>
          <a:p>
            <a:pPr marL="0" indent="0" algn="ctr">
              <a:buNone/>
            </a:pPr>
            <a:r>
              <a:rPr lang="en-US" sz="1150" b="1" dirty="0">
                <a:solidFill>
                  <a:srgbClr val="0B1220"/>
                </a:solidFill>
              </a:rPr>
              <a:t>Change lead time</a:t>
            </a:r>
            <a:endParaRPr lang="en-US" sz="1150" dirty="0"/>
          </a:p>
        </p:txBody>
      </p:sp>
      <p:sp>
        <p:nvSpPr>
          <p:cNvPr id="7" name="Text 5"/>
          <p:cNvSpPr/>
          <p:nvPr/>
        </p:nvSpPr>
        <p:spPr>
          <a:xfrm>
            <a:off x="3383280" y="1929384"/>
            <a:ext cx="4023360" cy="393192"/>
          </a:xfrm>
          <a:prstGeom prst="rect">
            <a:avLst/>
          </a:prstGeom>
          <a:noFill/>
          <a:ln/>
        </p:spPr>
        <p:txBody>
          <a:bodyPr wrap="square" lIns="0" tIns="0" rIns="0" bIns="0" rtlCol="0" anchor="ctr">
            <a:normAutofit fontScale="92500" lnSpcReduction="10000"/>
          </a:bodyPr>
          <a:lstStyle/>
          <a:p>
            <a:pPr marL="0" indent="0">
              <a:buNone/>
            </a:pPr>
            <a:r>
              <a:rPr lang="en-US" sz="1500" dirty="0">
                <a:solidFill>
                  <a:srgbClr val="CBD5E1"/>
                </a:solidFill>
              </a:rPr>
              <a:t>How long a committed change takes to reach production.</a:t>
            </a:r>
            <a:endParaRPr lang="en-US" sz="1500" dirty="0"/>
          </a:p>
        </p:txBody>
      </p:sp>
      <p:sp>
        <p:nvSpPr>
          <p:cNvPr id="8" name="Text 6"/>
          <p:cNvSpPr/>
          <p:nvPr/>
        </p:nvSpPr>
        <p:spPr>
          <a:xfrm>
            <a:off x="822960" y="2724912"/>
            <a:ext cx="2331720" cy="502920"/>
          </a:xfrm>
          <a:prstGeom prst="rect">
            <a:avLst/>
          </a:prstGeom>
          <a:solidFill>
            <a:srgbClr val="38BDF8"/>
          </a:solidFill>
          <a:ln>
            <a:solidFill>
              <a:srgbClr val="38BDF8"/>
            </a:solidFill>
          </a:ln>
        </p:spPr>
        <p:txBody>
          <a:bodyPr wrap="square" lIns="1016" tIns="1016" rIns="1016" bIns="1016" rtlCol="0" anchor="ctr">
            <a:normAutofit/>
          </a:bodyPr>
          <a:lstStyle/>
          <a:p>
            <a:pPr marL="0" indent="0" algn="ctr">
              <a:buNone/>
            </a:pPr>
            <a:r>
              <a:rPr lang="en-US" sz="1150" b="1" dirty="0">
                <a:solidFill>
                  <a:srgbClr val="0B1220"/>
                </a:solidFill>
              </a:rPr>
              <a:t>Deployment frequency</a:t>
            </a:r>
            <a:endParaRPr lang="en-US" sz="1150" dirty="0"/>
          </a:p>
        </p:txBody>
      </p:sp>
      <p:sp>
        <p:nvSpPr>
          <p:cNvPr id="9" name="Text 7"/>
          <p:cNvSpPr/>
          <p:nvPr/>
        </p:nvSpPr>
        <p:spPr>
          <a:xfrm>
            <a:off x="3383280" y="2779776"/>
            <a:ext cx="4023360" cy="393192"/>
          </a:xfrm>
          <a:prstGeom prst="rect">
            <a:avLst/>
          </a:prstGeom>
          <a:noFill/>
          <a:ln/>
        </p:spPr>
        <p:txBody>
          <a:bodyPr wrap="square" lIns="0" tIns="0" rIns="0" bIns="0" rtlCol="0" anchor="ctr">
            <a:normAutofit fontScale="92500"/>
          </a:bodyPr>
          <a:lstStyle/>
          <a:p>
            <a:pPr marL="0" indent="0">
              <a:buNone/>
            </a:pPr>
            <a:r>
              <a:rPr lang="en-US" sz="1500" dirty="0">
                <a:solidFill>
                  <a:srgbClr val="CBD5E1"/>
                </a:solidFill>
              </a:rPr>
              <a:t>How often the team releases successful changes.</a:t>
            </a:r>
            <a:endParaRPr lang="en-US" sz="1500" dirty="0"/>
          </a:p>
        </p:txBody>
      </p:sp>
      <p:sp>
        <p:nvSpPr>
          <p:cNvPr id="10" name="Text 8"/>
          <p:cNvSpPr/>
          <p:nvPr/>
        </p:nvSpPr>
        <p:spPr>
          <a:xfrm>
            <a:off x="822960" y="3575304"/>
            <a:ext cx="2331720" cy="502920"/>
          </a:xfrm>
          <a:prstGeom prst="rect">
            <a:avLst/>
          </a:prstGeom>
          <a:solidFill>
            <a:srgbClr val="F97316"/>
          </a:solidFill>
          <a:ln>
            <a:solidFill>
              <a:srgbClr val="F97316"/>
            </a:solidFill>
          </a:ln>
        </p:spPr>
        <p:txBody>
          <a:bodyPr wrap="square" lIns="1016" tIns="1016" rIns="1016" bIns="1016" rtlCol="0" anchor="ctr">
            <a:normAutofit/>
          </a:bodyPr>
          <a:lstStyle/>
          <a:p>
            <a:pPr marL="0" indent="0" algn="ctr">
              <a:buNone/>
            </a:pPr>
            <a:r>
              <a:rPr lang="en-US" sz="1150" b="1" dirty="0">
                <a:solidFill>
                  <a:srgbClr val="0B1220"/>
                </a:solidFill>
              </a:rPr>
              <a:t>Change fail rate</a:t>
            </a:r>
            <a:endParaRPr lang="en-US" sz="1150" dirty="0"/>
          </a:p>
        </p:txBody>
      </p:sp>
      <p:sp>
        <p:nvSpPr>
          <p:cNvPr id="11" name="Text 9"/>
          <p:cNvSpPr/>
          <p:nvPr/>
        </p:nvSpPr>
        <p:spPr>
          <a:xfrm>
            <a:off x="3383280" y="3630168"/>
            <a:ext cx="4023360" cy="393192"/>
          </a:xfrm>
          <a:prstGeom prst="rect">
            <a:avLst/>
          </a:prstGeom>
          <a:noFill/>
          <a:ln/>
        </p:spPr>
        <p:txBody>
          <a:bodyPr wrap="square" lIns="0" tIns="0" rIns="0" bIns="0" rtlCol="0" anchor="ctr">
            <a:normAutofit fontScale="92500" lnSpcReduction="10000"/>
          </a:bodyPr>
          <a:lstStyle/>
          <a:p>
            <a:pPr marL="0" indent="0">
              <a:buNone/>
            </a:pPr>
            <a:r>
              <a:rPr lang="en-US" sz="1500" dirty="0">
                <a:solidFill>
                  <a:srgbClr val="CBD5E1"/>
                </a:solidFill>
              </a:rPr>
              <a:t>How often deployments cause issues that need intervention.</a:t>
            </a:r>
            <a:endParaRPr lang="en-US" sz="1500" dirty="0"/>
          </a:p>
        </p:txBody>
      </p:sp>
      <p:sp>
        <p:nvSpPr>
          <p:cNvPr id="12" name="Text 10"/>
          <p:cNvSpPr/>
          <p:nvPr/>
        </p:nvSpPr>
        <p:spPr>
          <a:xfrm>
            <a:off x="822960" y="4425696"/>
            <a:ext cx="2331720" cy="502920"/>
          </a:xfrm>
          <a:prstGeom prst="rect">
            <a:avLst/>
          </a:prstGeom>
          <a:solidFill>
            <a:srgbClr val="34D399"/>
          </a:solidFill>
          <a:ln>
            <a:solidFill>
              <a:srgbClr val="34D399"/>
            </a:solidFill>
          </a:ln>
        </p:spPr>
        <p:txBody>
          <a:bodyPr wrap="square" lIns="1016" tIns="1016" rIns="1016" bIns="1016" rtlCol="0" anchor="ctr">
            <a:normAutofit/>
          </a:bodyPr>
          <a:lstStyle/>
          <a:p>
            <a:pPr marL="0" indent="0" algn="ctr">
              <a:buNone/>
            </a:pPr>
            <a:r>
              <a:rPr lang="en-US" sz="1150" b="1" dirty="0">
                <a:solidFill>
                  <a:srgbClr val="0B1220"/>
                </a:solidFill>
              </a:rPr>
              <a:t>Recovery time</a:t>
            </a:r>
            <a:endParaRPr lang="en-US" sz="1150" dirty="0"/>
          </a:p>
        </p:txBody>
      </p:sp>
      <p:sp>
        <p:nvSpPr>
          <p:cNvPr id="13" name="Text 11"/>
          <p:cNvSpPr/>
          <p:nvPr/>
        </p:nvSpPr>
        <p:spPr>
          <a:xfrm>
            <a:off x="3383280" y="4480560"/>
            <a:ext cx="4023360" cy="393192"/>
          </a:xfrm>
          <a:prstGeom prst="rect">
            <a:avLst/>
          </a:prstGeom>
          <a:noFill/>
          <a:ln/>
        </p:spPr>
        <p:txBody>
          <a:bodyPr wrap="square" lIns="0" tIns="0" rIns="0" bIns="0" rtlCol="0" anchor="ctr">
            <a:normAutofit fontScale="92500" lnSpcReduction="10000"/>
          </a:bodyPr>
          <a:lstStyle/>
          <a:p>
            <a:pPr marL="0" indent="0">
              <a:buNone/>
            </a:pPr>
            <a:r>
              <a:rPr lang="en-US" sz="1500" dirty="0">
                <a:solidFill>
                  <a:srgbClr val="CBD5E1"/>
                </a:solidFill>
              </a:rPr>
              <a:t>How quickly the team restores service after a failed deployment.</a:t>
            </a:r>
            <a:endParaRPr lang="en-US" sz="1500" dirty="0"/>
          </a:p>
        </p:txBody>
      </p:sp>
      <p:sp>
        <p:nvSpPr>
          <p:cNvPr id="14" name="Text 12"/>
          <p:cNvSpPr/>
          <p:nvPr/>
        </p:nvSpPr>
        <p:spPr>
          <a:xfrm>
            <a:off x="7772400" y="1371600"/>
            <a:ext cx="3474720" cy="347472"/>
          </a:xfrm>
          <a:prstGeom prst="rect">
            <a:avLst/>
          </a:prstGeom>
          <a:noFill/>
          <a:ln/>
        </p:spPr>
        <p:txBody>
          <a:bodyPr wrap="square" lIns="0" tIns="0" rIns="0" bIns="0" rtlCol="0" anchor="ctr"/>
          <a:lstStyle/>
          <a:p>
            <a:pPr marL="0" indent="0">
              <a:buNone/>
            </a:pPr>
            <a:r>
              <a:rPr lang="en-US" sz="2200" b="1" dirty="0">
                <a:solidFill>
                  <a:srgbClr val="F8FAFC"/>
                </a:solidFill>
              </a:rPr>
              <a:t>How I would use the data</a:t>
            </a:r>
            <a:endParaRPr lang="en-US" sz="2200" dirty="0"/>
          </a:p>
        </p:txBody>
      </p:sp>
      <p:sp>
        <p:nvSpPr>
          <p:cNvPr id="15" name="Text 13"/>
          <p:cNvSpPr/>
          <p:nvPr/>
        </p:nvSpPr>
        <p:spPr>
          <a:xfrm>
            <a:off x="7863840" y="2011680"/>
            <a:ext cx="3337560" cy="2514600"/>
          </a:xfrm>
          <a:prstGeom prst="rect">
            <a:avLst/>
          </a:prstGeom>
          <a:noFill/>
          <a:ln/>
        </p:spPr>
        <p:txBody>
          <a:bodyPr wrap="square" lIns="635" tIns="635" rIns="635" bIns="635" rtlCol="0" anchor="t">
            <a:normAutofit/>
          </a:bodyPr>
          <a:lstStyle/>
          <a:p>
            <a:pPr marL="190500" indent="-190500">
              <a:buSzPct val="100000"/>
              <a:buChar char="•"/>
            </a:pPr>
            <a:r>
              <a:rPr lang="en-US" sz="1550" dirty="0">
                <a:solidFill>
                  <a:srgbClr val="CBD5E1"/>
                </a:solidFill>
              </a:rPr>
              <a:t>Map the real process from commit to production.</a:t>
            </a:r>
            <a:endParaRPr lang="en-US" sz="1550" dirty="0"/>
          </a:p>
          <a:p>
            <a:pPr marL="190500" indent="-190500">
              <a:buSzPct val="100000"/>
              <a:buChar char="•"/>
            </a:pPr>
            <a:r>
              <a:rPr lang="en-US" sz="1550" dirty="0">
                <a:solidFill>
                  <a:srgbClr val="CBD5E1"/>
                </a:solidFill>
              </a:rPr>
              <a:t>Mark queues, wait time, handoffs, and rework.</a:t>
            </a:r>
            <a:endParaRPr lang="en-US" sz="1550" dirty="0"/>
          </a:p>
          <a:p>
            <a:pPr marL="190500" indent="-190500">
              <a:buSzPct val="100000"/>
              <a:buChar char="•"/>
            </a:pPr>
            <a:r>
              <a:rPr lang="en-US" sz="1550" dirty="0">
                <a:solidFill>
                  <a:srgbClr val="CBD5E1"/>
                </a:solidFill>
              </a:rPr>
              <a:t>Pick one constraint and improve it as an experiment.</a:t>
            </a:r>
            <a:endParaRPr lang="en-US" sz="1550" dirty="0"/>
          </a:p>
          <a:p>
            <a:pPr marL="190500" indent="-190500">
              <a:buSzPct val="100000"/>
              <a:buChar char="•"/>
            </a:pPr>
            <a:r>
              <a:rPr lang="en-US" sz="1550" dirty="0">
                <a:solidFill>
                  <a:srgbClr val="CBD5E1"/>
                </a:solidFill>
              </a:rPr>
              <a:t>Track the same metrics again to see if flow improved.</a:t>
            </a:r>
            <a:endParaRPr lang="en-US" sz="1550" dirty="0"/>
          </a:p>
        </p:txBody>
      </p:sp>
      <p:sp>
        <p:nvSpPr>
          <p:cNvPr id="16" name="Text 14"/>
          <p:cNvSpPr/>
          <p:nvPr/>
        </p:nvSpPr>
        <p:spPr>
          <a:xfrm>
            <a:off x="960120" y="5596128"/>
            <a:ext cx="10149840" cy="402336"/>
          </a:xfrm>
          <a:prstGeom prst="rect">
            <a:avLst/>
          </a:prstGeom>
          <a:noFill/>
          <a:ln/>
        </p:spPr>
        <p:txBody>
          <a:bodyPr wrap="square" lIns="0" tIns="0" rIns="0" bIns="0" rtlCol="0" anchor="ctr"/>
          <a:lstStyle/>
          <a:p>
            <a:pPr marL="0" indent="0" algn="ctr">
              <a:buNone/>
            </a:pPr>
            <a:r>
              <a:rPr lang="en-US" sz="2000" b="1" dirty="0">
                <a:solidFill>
                  <a:srgbClr val="F8FAFC"/>
                </a:solidFill>
              </a:rPr>
              <a:t>Main idea: do not only measure activity. Measure how quickly safe changes reach users.</a:t>
            </a:r>
            <a:endParaRPr lang="en-US" sz="2000" dirty="0"/>
          </a:p>
        </p:txBody>
      </p:sp>
      <p:sp>
        <p:nvSpPr>
          <p:cNvPr id="17" name="Text 15"/>
          <p:cNvSpPr/>
          <p:nvPr/>
        </p:nvSpPr>
        <p:spPr>
          <a:xfrm>
            <a:off x="594360" y="6455664"/>
            <a:ext cx="3291840" cy="219456"/>
          </a:xfrm>
          <a:prstGeom prst="rect">
            <a:avLst/>
          </a:prstGeom>
          <a:noFill/>
          <a:ln/>
        </p:spPr>
        <p:txBody>
          <a:bodyPr wrap="square" lIns="0" tIns="0" rIns="0" bIns="0" rtlCol="0" anchor="ctr"/>
          <a:lstStyle/>
          <a:p>
            <a:pPr marL="0" indent="0">
              <a:buNone/>
            </a:pPr>
            <a:r>
              <a:rPr lang="en-US" sz="850" dirty="0">
                <a:solidFill>
                  <a:srgbClr val="94A3B8"/>
                </a:solidFill>
              </a:rPr>
              <a:t>Technology Value Stream  •  8</a:t>
            </a:r>
            <a:endParaRPr lang="en-US" sz="850" dirty="0"/>
          </a:p>
        </p:txBody>
      </p:sp>
      <p:sp>
        <p:nvSpPr>
          <p:cNvPr id="18" name="Text 16"/>
          <p:cNvSpPr/>
          <p:nvPr/>
        </p:nvSpPr>
        <p:spPr>
          <a:xfrm>
            <a:off x="4572000" y="6437376"/>
            <a:ext cx="7086600" cy="256032"/>
          </a:xfrm>
          <a:prstGeom prst="rect">
            <a:avLst/>
          </a:prstGeom>
          <a:noFill/>
          <a:ln/>
        </p:spPr>
        <p:txBody>
          <a:bodyPr wrap="square" lIns="0" tIns="0" rIns="0" bIns="0" rtlCol="0" anchor="ctr"/>
          <a:lstStyle/>
          <a:p>
            <a:pPr marL="0" indent="0" algn="r">
              <a:buNone/>
            </a:pPr>
            <a:r>
              <a:rPr lang="en-US" sz="780" dirty="0">
                <a:solidFill>
                  <a:srgbClr val="94A3B8"/>
                </a:solidFill>
              </a:rPr>
              <a:t>Sources: DORA metrics guide; Google Cloud Four Keys; DORA VSM guide</a:t>
            </a:r>
            <a:endParaRPr lang="en-US" sz="7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502920" y="6291072"/>
            <a:ext cx="11155680" cy="0"/>
          </a:xfrm>
          <a:prstGeom prst="line">
            <a:avLst/>
          </a:prstGeom>
          <a:noFill/>
          <a:ln w="12700">
            <a:solidFill>
              <a:srgbClr val="334155"/>
            </a:solidFill>
            <a:prstDash val="solid"/>
          </a:ln>
        </p:spPr>
        <p:txBody>
          <a:bodyPr/>
          <a:lstStyle/>
          <a:p>
            <a:endParaRPr lang="en-US"/>
          </a:p>
        </p:txBody>
      </p:sp>
      <p:sp>
        <p:nvSpPr>
          <p:cNvPr id="3" name="Text 1"/>
          <p:cNvSpPr/>
          <p:nvPr/>
        </p:nvSpPr>
        <p:spPr>
          <a:xfrm>
            <a:off x="594360" y="347472"/>
            <a:ext cx="10881360" cy="411480"/>
          </a:xfrm>
          <a:prstGeom prst="rect">
            <a:avLst/>
          </a:prstGeom>
          <a:noFill/>
          <a:ln/>
        </p:spPr>
        <p:txBody>
          <a:bodyPr wrap="square" lIns="0" tIns="0" rIns="0" bIns="0" rtlCol="0" anchor="ct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My key takeaway</a:t>
            </a:r>
            <a:endParaRPr lang="en-US" sz="3100" dirty="0"/>
          </a:p>
        </p:txBody>
      </p:sp>
      <p:sp>
        <p:nvSpPr>
          <p:cNvPr id="4" name="Text 2"/>
          <p:cNvSpPr/>
          <p:nvPr/>
        </p:nvSpPr>
        <p:spPr>
          <a:xfrm>
            <a:off x="612648" y="832104"/>
            <a:ext cx="10607040" cy="310896"/>
          </a:xfrm>
          <a:prstGeom prst="rect">
            <a:avLst/>
          </a:prstGeom>
          <a:noFill/>
          <a:ln/>
        </p:spPr>
        <p:txBody>
          <a:bodyPr wrap="square" lIns="0" tIns="0" rIns="0" bIns="0" rtlCol="0" anchor="ctr"/>
          <a:lstStyle/>
          <a:p>
            <a:pPr marL="0" indent="0">
              <a:buNone/>
            </a:pPr>
            <a:endParaRPr lang="en-US" sz="1350" dirty="0"/>
          </a:p>
        </p:txBody>
      </p:sp>
      <p:sp>
        <p:nvSpPr>
          <p:cNvPr id="5" name="Text 3"/>
          <p:cNvSpPr/>
          <p:nvPr/>
        </p:nvSpPr>
        <p:spPr>
          <a:xfrm>
            <a:off x="914400" y="1508760"/>
            <a:ext cx="8686800" cy="411480"/>
          </a:xfrm>
          <a:prstGeom prst="rect">
            <a:avLst/>
          </a:prstGeom>
          <a:noFill/>
          <a:ln/>
        </p:spPr>
        <p:txBody>
          <a:bodyPr wrap="square" lIns="0" tIns="0" rIns="0" bIns="0" rtlCol="0" anchor="ctr"/>
          <a:lstStyle/>
          <a:p>
            <a:pPr marL="0" indent="0">
              <a:buNone/>
            </a:pPr>
            <a:r>
              <a:rPr lang="en-US" sz="1900" dirty="0">
                <a:solidFill>
                  <a:srgbClr val="94A3B8"/>
                </a:solidFill>
              </a:rPr>
              <a:t>The most important point I found is this:</a:t>
            </a:r>
            <a:endParaRPr lang="en-US" sz="1900" dirty="0"/>
          </a:p>
        </p:txBody>
      </p:sp>
      <p:sp>
        <p:nvSpPr>
          <p:cNvPr id="6" name="Text 4"/>
          <p:cNvSpPr/>
          <p:nvPr/>
        </p:nvSpPr>
        <p:spPr>
          <a:xfrm>
            <a:off x="914400" y="2103120"/>
            <a:ext cx="10058400" cy="1298448"/>
          </a:xfrm>
          <a:prstGeom prst="rect">
            <a:avLst/>
          </a:prstGeom>
          <a:noFill/>
          <a:ln/>
        </p:spPr>
        <p:txBody>
          <a:bodyPr wrap="square" lIns="0" tIns="0" rIns="0" bIns="0" rtlCol="0" anchor="ctr">
            <a:normAutofit fontScale="92500"/>
          </a:bodyPr>
          <a:lstStyle/>
          <a:p>
            <a:pPr marL="0" indent="0">
              <a:buNone/>
            </a:pPr>
            <a:r>
              <a:rPr lang="en-US" sz="3500" b="1" dirty="0">
                <a:solidFill>
                  <a:srgbClr val="F8FAFC"/>
                </a:solidFill>
                <a:latin typeface="Aptos Display" pitchFamily="34" charset="0"/>
                <a:ea typeface="Aptos Display" pitchFamily="34" charset="-122"/>
                <a:cs typeface="Aptos Display" pitchFamily="34" charset="-120"/>
              </a:rPr>
              <a:t>Reducing lead time means reducing waiting time, rework, and handoffs — not just pushing developers to code faster.</a:t>
            </a:r>
            <a:endParaRPr lang="en-US" sz="3500" dirty="0"/>
          </a:p>
        </p:txBody>
      </p:sp>
      <p:sp>
        <p:nvSpPr>
          <p:cNvPr id="7" name="Text 5"/>
          <p:cNvSpPr/>
          <p:nvPr/>
        </p:nvSpPr>
        <p:spPr>
          <a:xfrm>
            <a:off x="960120" y="3840480"/>
            <a:ext cx="10149840" cy="1280160"/>
          </a:xfrm>
          <a:prstGeom prst="rect">
            <a:avLst/>
          </a:prstGeom>
          <a:noFill/>
          <a:ln/>
        </p:spPr>
        <p:txBody>
          <a:bodyPr wrap="square" lIns="254" tIns="254" rIns="254" bIns="254" rtlCol="0" anchor="ctr">
            <a:normAutofit/>
          </a:bodyPr>
          <a:lstStyle/>
          <a:p>
            <a:pPr marL="0" indent="0">
              <a:buNone/>
            </a:pPr>
            <a:r>
              <a:rPr lang="en-US" sz="1900" dirty="0">
                <a:solidFill>
                  <a:srgbClr val="CBD5E1"/>
                </a:solidFill>
              </a:rPr>
              <a:t>Lead time is the best “truth meter” for the value stream. If a change takes months to reach production, the customer does not care that every team was busy. DevOps improves the system so small, tested, useful changes can reach production in minutes or hours while keeping quality high.</a:t>
            </a:r>
            <a:endParaRPr lang="en-US" sz="1900" dirty="0"/>
          </a:p>
        </p:txBody>
      </p:sp>
      <p:sp>
        <p:nvSpPr>
          <p:cNvPr id="8" name="Text 6"/>
          <p:cNvSpPr/>
          <p:nvPr/>
        </p:nvSpPr>
        <p:spPr>
          <a:xfrm>
            <a:off x="594360" y="6455664"/>
            <a:ext cx="3291840" cy="219456"/>
          </a:xfrm>
          <a:prstGeom prst="rect">
            <a:avLst/>
          </a:prstGeom>
          <a:noFill/>
          <a:ln/>
        </p:spPr>
        <p:txBody>
          <a:bodyPr wrap="square" lIns="0" tIns="0" rIns="0" bIns="0" rtlCol="0" anchor="ctr"/>
          <a:lstStyle/>
          <a:p>
            <a:pPr marL="0" indent="0">
              <a:buNone/>
            </a:pPr>
            <a:r>
              <a:rPr lang="en-US" sz="850" dirty="0">
                <a:solidFill>
                  <a:srgbClr val="94A3B8"/>
                </a:solidFill>
              </a:rPr>
              <a:t>Technology Value Stream  •  9</a:t>
            </a:r>
            <a:endParaRPr lang="en-US" sz="850" dirty="0"/>
          </a:p>
        </p:txBody>
      </p:sp>
      <p:sp>
        <p:nvSpPr>
          <p:cNvPr id="9" name="Text 7"/>
          <p:cNvSpPr/>
          <p:nvPr/>
        </p:nvSpPr>
        <p:spPr>
          <a:xfrm>
            <a:off x="4572000" y="6437376"/>
            <a:ext cx="7086600" cy="256032"/>
          </a:xfrm>
          <a:prstGeom prst="rect">
            <a:avLst/>
          </a:prstGeom>
          <a:noFill/>
          <a:ln/>
        </p:spPr>
        <p:txBody>
          <a:bodyPr wrap="square" lIns="0" tIns="0" rIns="0" bIns="0" rtlCol="0" anchor="ctr"/>
          <a:lstStyle/>
          <a:p>
            <a:pPr marL="0" indent="0" algn="r">
              <a:buNone/>
            </a:pPr>
            <a:r>
              <a:rPr lang="en-US" sz="780" dirty="0">
                <a:solidFill>
                  <a:srgbClr val="94A3B8"/>
                </a:solidFill>
              </a:rPr>
              <a:t>Sources: Course textbook pp. 9–10; DORA; Google Cloud</a:t>
            </a:r>
            <a:endParaRPr lang="en-US" sz="7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502920" y="6291072"/>
            <a:ext cx="11155680" cy="0"/>
          </a:xfrm>
          <a:prstGeom prst="line">
            <a:avLst/>
          </a:prstGeom>
          <a:noFill/>
          <a:ln w="12700">
            <a:solidFill>
              <a:srgbClr val="334155"/>
            </a:solidFill>
            <a:prstDash val="solid"/>
          </a:ln>
        </p:spPr>
        <p:txBody>
          <a:bodyPr/>
          <a:lstStyle/>
          <a:p>
            <a:endParaRPr lang="en-US"/>
          </a:p>
        </p:txBody>
      </p:sp>
      <p:sp>
        <p:nvSpPr>
          <p:cNvPr id="3" name="Text 1"/>
          <p:cNvSpPr/>
          <p:nvPr/>
        </p:nvSpPr>
        <p:spPr>
          <a:xfrm>
            <a:off x="594360" y="347472"/>
            <a:ext cx="10881360" cy="411480"/>
          </a:xfrm>
          <a:prstGeom prst="rect">
            <a:avLst/>
          </a:prstGeom>
          <a:noFill/>
          <a:ln/>
        </p:spPr>
        <p:txBody>
          <a:bodyPr wrap="square" lIns="0" tIns="0" rIns="0" bIns="0" rtlCol="0" anchor="ct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References</a:t>
            </a:r>
            <a:endParaRPr lang="en-US" sz="3100" dirty="0"/>
          </a:p>
        </p:txBody>
      </p:sp>
      <p:sp>
        <p:nvSpPr>
          <p:cNvPr id="4" name="Text 2"/>
          <p:cNvSpPr/>
          <p:nvPr/>
        </p:nvSpPr>
        <p:spPr>
          <a:xfrm>
            <a:off x="612648" y="832104"/>
            <a:ext cx="10607040" cy="310896"/>
          </a:xfrm>
          <a:prstGeom prst="rect">
            <a:avLst/>
          </a:prstGeom>
          <a:noFill/>
          <a:ln/>
        </p:spPr>
        <p:txBody>
          <a:bodyPr wrap="square" lIns="0" tIns="0" rIns="0" bIns="0" rtlCol="0" anchor="ctr"/>
          <a:lstStyle/>
          <a:p>
            <a:pPr marL="0" indent="0">
              <a:buNone/>
            </a:pPr>
            <a:endParaRPr lang="en-US" sz="1350" dirty="0"/>
          </a:p>
        </p:txBody>
      </p:sp>
      <p:sp>
        <p:nvSpPr>
          <p:cNvPr id="5" name="Text 3"/>
          <p:cNvSpPr/>
          <p:nvPr/>
        </p:nvSpPr>
        <p:spPr>
          <a:xfrm>
            <a:off x="868680" y="1508760"/>
            <a:ext cx="10607040" cy="4526280"/>
          </a:xfrm>
          <a:prstGeom prst="rect">
            <a:avLst/>
          </a:prstGeom>
          <a:noFill/>
          <a:ln/>
        </p:spPr>
        <p:txBody>
          <a:bodyPr wrap="square" lIns="635" tIns="635" rIns="635" bIns="635" rtlCol="0" anchor="t">
            <a:normAutofit/>
          </a:bodyPr>
          <a:lstStyle/>
          <a:p>
            <a:pPr marL="190500" indent="-190500">
              <a:buSzPct val="100000"/>
              <a:buChar char="•"/>
            </a:pPr>
            <a:r>
              <a:rPr lang="en-US" sz="1320" dirty="0">
                <a:solidFill>
                  <a:srgbClr val="CBD5E1"/>
                </a:solidFill>
              </a:rPr>
              <a:t>Course textbook, pp. 9–10. Lead time vs. processing time; common scenario; DevOps ideal.</a:t>
            </a:r>
            <a:endParaRPr lang="en-US" sz="1320" dirty="0"/>
          </a:p>
          <a:p>
            <a:pPr marL="190500" indent="-190500">
              <a:buSzPct val="100000"/>
              <a:buChar char="•"/>
            </a:pPr>
            <a:r>
              <a:rPr lang="en-US" sz="1320" dirty="0">
                <a:solidFill>
                  <a:srgbClr val="CBD5E1"/>
                </a:solidFill>
              </a:rPr>
              <a:t>DORA. “DORA’s software delivery performance metrics.” </a:t>
            </a:r>
            <a:r>
              <a:rPr lang="en-US" sz="1320" dirty="0">
                <a:solidFill>
                  <a:srgbClr val="CBD5E1"/>
                </a:solidFill>
                <a:hlinkClick r:id="rId3"/>
              </a:rPr>
              <a:t>https://dora.dev/guides/dora-metrics/</a:t>
            </a:r>
            <a:endParaRPr lang="en-US" sz="1320" dirty="0"/>
          </a:p>
          <a:p>
            <a:pPr marL="190500" indent="-190500">
              <a:buSzPct val="100000"/>
              <a:buChar char="•"/>
            </a:pPr>
            <a:r>
              <a:rPr lang="en-US" sz="1320" dirty="0">
                <a:solidFill>
                  <a:srgbClr val="CBD5E1"/>
                </a:solidFill>
              </a:rPr>
              <a:t>DORA. “Value stream mapping for software delivery.” </a:t>
            </a:r>
            <a:r>
              <a:rPr lang="en-US" sz="1320" dirty="0">
                <a:solidFill>
                  <a:srgbClr val="CBD5E1"/>
                </a:solidFill>
                <a:hlinkClick r:id="rId4"/>
              </a:rPr>
              <a:t>https://dora.dev/guides/value-stream-management/</a:t>
            </a:r>
            <a:endParaRPr lang="en-US" sz="1320" dirty="0"/>
          </a:p>
          <a:p>
            <a:pPr marL="190500" indent="-190500">
              <a:buSzPct val="100000"/>
              <a:buChar char="•"/>
            </a:pPr>
            <a:r>
              <a:rPr lang="en-US" sz="1320" dirty="0">
                <a:solidFill>
                  <a:srgbClr val="CBD5E1"/>
                </a:solidFill>
              </a:rPr>
              <a:t>Google Cloud Blog. “Use Four Keys metrics like change failure rate to measure your DevOps performance.” </a:t>
            </a:r>
            <a:r>
              <a:rPr lang="en-US" sz="1320" dirty="0">
                <a:solidFill>
                  <a:srgbClr val="CBD5E1"/>
                </a:solidFill>
                <a:hlinkClick r:id="rId5"/>
              </a:rPr>
              <a:t>https://cloud.google.com/blog/products/devops-sre/using-the-four-keys-to-measure-your-devops-performance</a:t>
            </a:r>
            <a:endParaRPr lang="en-US" sz="1320" dirty="0"/>
          </a:p>
          <a:p>
            <a:pPr marL="190500" indent="-190500">
              <a:buSzPct val="100000"/>
              <a:buChar char="•"/>
            </a:pPr>
            <a:r>
              <a:rPr lang="en-US" sz="1320" dirty="0">
                <a:solidFill>
                  <a:srgbClr val="CBD5E1"/>
                </a:solidFill>
              </a:rPr>
              <a:t>Red Green Refactor. “Book Club: The DevOps Handbook, Chapter 1.” </a:t>
            </a:r>
            <a:r>
              <a:rPr lang="en-US" sz="1320" dirty="0">
                <a:solidFill>
                  <a:srgbClr val="CBD5E1"/>
                </a:solidFill>
                <a:hlinkClick r:id="rId6"/>
              </a:rPr>
              <a:t>https://red-green-refactor.com/2020/11/04/book-club-the-devops-handbook-chapter-1-agile-continuous-delivery-and-the-three-ways/</a:t>
            </a:r>
            <a:endParaRPr lang="en-US" sz="1320" dirty="0"/>
          </a:p>
          <a:p>
            <a:pPr marL="190500" indent="-190500">
              <a:buSzPct val="100000"/>
              <a:buChar char="•"/>
            </a:pPr>
            <a:r>
              <a:rPr lang="en-US" sz="1320" dirty="0">
                <a:solidFill>
                  <a:srgbClr val="CBD5E1"/>
                </a:solidFill>
              </a:rPr>
              <a:t>Readingraphics. “Book Summary: The DevOps Handbook.” </a:t>
            </a:r>
            <a:r>
              <a:rPr lang="en-US" sz="1320" dirty="0">
                <a:solidFill>
                  <a:srgbClr val="CBD5E1"/>
                </a:solidFill>
                <a:hlinkClick r:id="rId7"/>
              </a:rPr>
              <a:t>https://readingraphics.com/book-summary-the-devops-handbook/</a:t>
            </a:r>
            <a:endParaRPr lang="en-US" sz="1320" dirty="0"/>
          </a:p>
        </p:txBody>
      </p:sp>
      <p:sp>
        <p:nvSpPr>
          <p:cNvPr id="6" name="Text 4"/>
          <p:cNvSpPr/>
          <p:nvPr/>
        </p:nvSpPr>
        <p:spPr>
          <a:xfrm>
            <a:off x="594360" y="6455664"/>
            <a:ext cx="3291840" cy="219456"/>
          </a:xfrm>
          <a:prstGeom prst="rect">
            <a:avLst/>
          </a:prstGeom>
          <a:noFill/>
          <a:ln/>
        </p:spPr>
        <p:txBody>
          <a:bodyPr wrap="square" lIns="0" tIns="0" rIns="0" bIns="0" rtlCol="0" anchor="ctr"/>
          <a:lstStyle/>
          <a:p>
            <a:pPr marL="0" indent="0">
              <a:buNone/>
            </a:pPr>
            <a:r>
              <a:rPr lang="en-US" sz="850" dirty="0">
                <a:solidFill>
                  <a:srgbClr val="94A3B8"/>
                </a:solidFill>
              </a:rPr>
              <a:t>Technology Value Stream  •  10</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1469</Words>
  <Application>Microsoft Macintosh PowerPoint</Application>
  <PresentationFormat>Widescreen</PresentationFormat>
  <Paragraphs>151</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Created with ChatGPT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Technology Value Stream</dc:title>
  <dc:subject>The Technology Value Stream</dc:subject>
  <dc:creator>Alex Baldree</dc:creator>
  <cp:lastModifiedBy>Alexander Baldree</cp:lastModifiedBy>
  <cp:revision>2</cp:revision>
  <dcterms:created xsi:type="dcterms:W3CDTF">2026-06-04T05:08:57Z</dcterms:created>
  <dcterms:modified xsi:type="dcterms:W3CDTF">2026-06-04T05:32:59Z</dcterms:modified>
</cp:coreProperties>
</file>