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039"/>
    <p:restoredTop sz="86377"/>
  </p:normalViewPr>
  <p:slideViewPr>
    <p:cSldViewPr snapToGrid="0" snapToObjects="1">
      <p:cViewPr>
        <p:scale>
          <a:sx n="106" d="100"/>
          <a:sy n="106" d="100"/>
        </p:scale>
        <p:origin x="432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19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CSD380</a:t>
            </a:r>
          </a:p>
          <a:p>
            <a:r>
              <a:rPr lang="en-US" dirty="0"/>
              <a:t>07/23/26</a:t>
            </a:r>
          </a:p>
          <a:p>
            <a:r>
              <a:rPr lang="en-US" dirty="0"/>
              <a:t>Module </a:t>
            </a:r>
            <a:r>
              <a:rPr lang="en-US"/>
              <a:t>10.2 Assignment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SSDF says source code and configuration-as-code should be stored in a repository, access should be restricted based on code type, and version control should track changes with individual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controls begin with access control. NIST also emphasizes restricting repository access based on the nature of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branch protection and rulesets can require pull requests, required checks, signed commits, code owner reviews, and linear history before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documentation explains that CODEOWNERS can be connected to branch protection so code owner approval is required before changes are merged.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says secret scanning checks repository history for hardcoded credentials, while push protection blocks supported secrets before they are pushed.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describes code scanning as a way to analyze repository code for security vulnerabilities and coding errors. Dependabot security updates can raise pull requests to fix vulnerable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SSDF specifically lists using version control for accountability and using commit signing as examples of protecting source code. GitHub rulesets can also require signed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here is that repo security is not just settings. Someone has to review alerts, maintain ownership, and respond when something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BER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en/code-security/concepts/supply-chain-security/dependabot-security-update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docs.github.com/en/code-security/concepts/secret-security/push-protec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ithub.com/en/repositories/configuring-branches-and-merges-in-your-repository/managing-protected-branches/managing-a-branch-protection-rule" TargetMode="External"/><Relationship Id="rId5" Type="http://schemas.openxmlformats.org/officeDocument/2006/relationships/hyperlink" Target="https://www.cisa.gov/securebydesign" TargetMode="External"/><Relationship Id="rId4" Type="http://schemas.openxmlformats.org/officeDocument/2006/relationships/hyperlink" Target="https://csrc.nist.gov/pubs/sp/800/218/final" TargetMode="External"/><Relationship Id="rId9" Type="http://schemas.openxmlformats.org/officeDocument/2006/relationships/hyperlink" Target="https://github.com/Panda-Alex21687/CSD38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digital_illustration_conceptual_cyb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58368" y="585216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9E66FF">
              <a:alpha val="22000"/>
            </a:srgbClr>
          </a:solidFill>
          <a:ln w="10160">
            <a:solidFill>
              <a:srgbClr val="9E66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" y="644652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BFF"/>
                </a:solidFill>
              </a:rPr>
              <a:t>CSD430 / Shared Repository Security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170432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Controls in Shared Source Code Repositories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94944" y="3273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44" y="5897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BFF"/>
                </a:solidFill>
              </a:rPr>
              <a:t>Alexander Baldree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4944" y="6163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digital_illustration_3d_tech_conc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shared repos need security controls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repo is where teamwork happens, but it can also become the easiest place to create risk.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16916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691640"/>
            <a:ext cx="54864" cy="1828800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" y="18379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Shared access creates shared risk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8096" y="2185416"/>
            <a:ext cx="31455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When several people can push, edit, review, and merge code, one mistake can affect the whole project.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54864" cy="1828800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44568" y="18379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The code is also evidence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44568" y="2185416"/>
            <a:ext cx="31455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Version history should show who changed what, when it changed, and why it was approved.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19872" y="16916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2EE59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19872" y="1691640"/>
            <a:ext cx="54864" cy="1828800"/>
          </a:xfrm>
          <a:prstGeom prst="rect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21040" y="18379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Security has to be built into the workflow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21040" y="2185416"/>
            <a:ext cx="31455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The best controls are not extra chores at the end. They are part of how the team branches, reviews, scans, and merges.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325880" y="4434840"/>
            <a:ext cx="9509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FBFF"/>
                </a:solidFill>
              </a:rPr>
              <a:t>My takeaway: the repo should help the team move fast, but not so fast that risky code slips straight into main.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NIST SSDF SP 800-218; CISA Secure by Design.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#1: limit access and use strong identity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control is making sure the right people have the right level of access.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3840480" cy="3822192"/>
          </a:xfrm>
          <a:prstGeom prst="roundRect">
            <a:avLst>
              <a:gd name="adj" fmla="val 2871"/>
            </a:avLst>
          </a:prstGeom>
          <a:solidFill>
            <a:srgbClr val="0A1530">
              <a:alpha val="95000"/>
            </a:srgbClr>
          </a:solidFill>
          <a:ln w="12700">
            <a:solidFill>
              <a:srgbClr val="36C7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🔐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325880" y="3063240"/>
            <a:ext cx="292608" cy="292608"/>
          </a:xfrm>
          <a:prstGeom prst="ellipse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3081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BFF"/>
                </a:solidFill>
              </a:rPr>
              <a:t>Read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18488" y="3209544"/>
            <a:ext cx="1856232" cy="0"/>
          </a:xfrm>
          <a:prstGeom prst="line">
            <a:avLst/>
          </a:prstGeom>
          <a:noFill/>
          <a:ln w="15240">
            <a:solidFill>
              <a:srgbClr val="2EE59D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25880" y="3630168"/>
            <a:ext cx="292608" cy="292608"/>
          </a:xfrm>
          <a:prstGeom prst="ellipse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BFF"/>
                </a:solidFill>
              </a:rPr>
              <a:t>Write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18488" y="3776472"/>
            <a:ext cx="1856232" cy="0"/>
          </a:xfrm>
          <a:prstGeom prst="line">
            <a:avLst/>
          </a:prstGeom>
          <a:noFill/>
          <a:ln w="1524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25880" y="4197096"/>
            <a:ext cx="292608" cy="292608"/>
          </a:xfrm>
          <a:prstGeom prst="ellipse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83080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BFF"/>
                </a:solidFill>
              </a:rPr>
              <a:t>Admin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18488" y="4343400"/>
            <a:ext cx="1856232" cy="0"/>
          </a:xfrm>
          <a:prstGeom prst="line">
            <a:avLst/>
          </a:prstGeom>
          <a:noFill/>
          <a:ln w="15240">
            <a:solidFill>
              <a:srgbClr val="9E66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74920" y="1627632"/>
            <a:ext cx="2971800" cy="1261872"/>
          </a:xfrm>
          <a:prstGeom prst="roundRect">
            <a:avLst>
              <a:gd name="adj" fmla="val 5797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2EE59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74920" y="1627632"/>
            <a:ext cx="54864" cy="1261872"/>
          </a:xfrm>
          <a:prstGeom prst="rect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76088" y="1773936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Use least privilege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276088" y="2121408"/>
            <a:ext cx="26426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Not everyone needs admin access. Start with the minimum permissions needed for the role, then add more only when there is a clear reason.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66760" y="1627632"/>
            <a:ext cx="2971800" cy="1261872"/>
          </a:xfrm>
          <a:prstGeom prst="roundRect">
            <a:avLst>
              <a:gd name="adj" fmla="val 5797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66760" y="1627632"/>
            <a:ext cx="54864" cy="1261872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67928" y="1773936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Protect sign-in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567928" y="2121408"/>
            <a:ext cx="26426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Use strong authentication, especially MFA, for accounts that can change or merge code.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3310128"/>
            <a:ext cx="2971800" cy="1463040"/>
          </a:xfrm>
          <a:prstGeom prst="roundRect">
            <a:avLst>
              <a:gd name="adj" fmla="val 500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74920" y="3310128"/>
            <a:ext cx="54864" cy="1463040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76088" y="345643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Review access regularly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276088" y="3803904"/>
            <a:ext cx="264261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Remove old collaborators, stale service accounts, and unused tokens so forgotten access does not become a back door.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66760" y="3310128"/>
            <a:ext cx="2971800" cy="1463040"/>
          </a:xfrm>
          <a:prstGeom prst="roundRect">
            <a:avLst>
              <a:gd name="adj" fmla="val 500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FFD16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66760" y="3310128"/>
            <a:ext cx="54864" cy="1463040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67928" y="345643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Keep teams organized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567928" y="3803904"/>
            <a:ext cx="264261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Use groups or teams for permissions instead of handing out one-off access that becomes hard to track.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NIST SSDF SP 800-218; CISA Secure by Design.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tech_vector_3d_ish_illustration_on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#2: protect the main branch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branch should be treated like the official version of the project, not a scratch pad.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10561320" cy="1325880"/>
          </a:xfrm>
          <a:prstGeom prst="roundRect">
            <a:avLst>
              <a:gd name="adj" fmla="val 8276"/>
            </a:avLst>
          </a:prstGeom>
          <a:solidFill>
            <a:srgbClr val="071225">
              <a:alpha val="92000"/>
            </a:srgbClr>
          </a:solidFill>
          <a:ln w="12700">
            <a:solidFill>
              <a:srgbClr val="36C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88720" y="4407408"/>
            <a:ext cx="384048" cy="384048"/>
          </a:xfrm>
          <a:prstGeom prst="ellipse">
            <a:avLst/>
          </a:prstGeom>
          <a:solidFill>
            <a:srgbClr val="36C7FF">
              <a:alpha val="85000"/>
            </a:srgbClr>
          </a:solidFill>
          <a:ln w="12700">
            <a:solidFill>
              <a:srgbClr val="36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88720" y="44897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45920" y="446227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feature branch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17520" y="4608576"/>
            <a:ext cx="548640" cy="0"/>
          </a:xfrm>
          <a:prstGeom prst="line">
            <a:avLst/>
          </a:prstGeom>
          <a:noFill/>
          <a:ln w="2286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94760" y="4407408"/>
            <a:ext cx="384048" cy="384048"/>
          </a:xfrm>
          <a:prstGeom prst="ellipse">
            <a:avLst/>
          </a:prstGeom>
          <a:solidFill>
            <a:srgbClr val="9E66FF">
              <a:alpha val="85000"/>
            </a:srgbClr>
          </a:solidFill>
          <a:ln w="12700">
            <a:solidFill>
              <a:srgbClr val="9E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94760" y="44897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51960" y="446227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pull request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23560" y="4608576"/>
            <a:ext cx="548640" cy="0"/>
          </a:xfrm>
          <a:prstGeom prst="line">
            <a:avLst/>
          </a:prstGeom>
          <a:noFill/>
          <a:ln w="2286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0" y="4407408"/>
            <a:ext cx="384048" cy="384048"/>
          </a:xfrm>
          <a:prstGeom prst="ellipse">
            <a:avLst/>
          </a:prstGeom>
          <a:solidFill>
            <a:srgbClr val="36C7FF">
              <a:alpha val="85000"/>
            </a:srgbClr>
          </a:solidFill>
          <a:ln w="12700">
            <a:solidFill>
              <a:srgbClr val="36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44897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446227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required checks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0" y="4608576"/>
            <a:ext cx="548640" cy="0"/>
          </a:xfrm>
          <a:prstGeom prst="line">
            <a:avLst/>
          </a:prstGeom>
          <a:noFill/>
          <a:ln w="2286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006840" y="4407408"/>
            <a:ext cx="384048" cy="384048"/>
          </a:xfrm>
          <a:prstGeom prst="ellipse">
            <a:avLst/>
          </a:prstGeom>
          <a:solidFill>
            <a:srgbClr val="9E66FF">
              <a:alpha val="85000"/>
            </a:srgbClr>
          </a:solidFill>
          <a:ln w="12700">
            <a:solidFill>
              <a:srgbClr val="9E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006840" y="44897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464040" y="446227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approved merge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1645920"/>
            <a:ext cx="3108960" cy="1225296"/>
          </a:xfrm>
          <a:prstGeom prst="roundRect">
            <a:avLst>
              <a:gd name="adj" fmla="val 597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2960" y="1645920"/>
            <a:ext cx="54864" cy="1225296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24128" y="179222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Require pull requests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1024128" y="2139696"/>
            <a:ext cx="2779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Instead of pushing directly into main, changes should come through a pull request where the team can see and discuss them.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26280" y="1645920"/>
            <a:ext cx="3108960" cy="1225296"/>
          </a:xfrm>
          <a:prstGeom prst="roundRect">
            <a:avLst>
              <a:gd name="adj" fmla="val 597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2EE59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26280" y="1645920"/>
            <a:ext cx="54864" cy="1225296"/>
          </a:xfrm>
          <a:prstGeom prst="rect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27448" y="179222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Require status checks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4727448" y="2139696"/>
            <a:ext cx="2779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Tests, builds, and scans should pass before the merge button is available.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229600" y="1645920"/>
            <a:ext cx="3108960" cy="1225296"/>
          </a:xfrm>
          <a:prstGeom prst="roundRect">
            <a:avLst>
              <a:gd name="adj" fmla="val 5970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229600" y="1645920"/>
            <a:ext cx="54864" cy="1225296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430768" y="179222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Restrict bypasses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8430768" y="2139696"/>
            <a:ext cx="2779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Only a small number of trusted people should be able to bypass rules, and that should be rare.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GitHub Docs, “About protected branches,” “About rulesets,” and “Available rules for rulesets.”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#3: use reviews and ownership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requests work best when review is part of the team habit, not just a button to click.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1499616"/>
            <a:ext cx="4617720" cy="4343400"/>
          </a:xfrm>
          <a:prstGeom prst="roundRect">
            <a:avLst>
              <a:gd name="adj" fmla="val 2526"/>
            </a:avLst>
          </a:prstGeom>
          <a:solidFill>
            <a:srgbClr val="0A1530">
              <a:alpha val="98000"/>
            </a:srgbClr>
          </a:solidFill>
          <a:ln w="12700">
            <a:solidFill>
              <a:srgbClr val="9E66FF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BFF"/>
                </a:solidFill>
              </a:rPr>
              <a:t>Pull Request Review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2213C"/>
          </a:solidFill>
          <a:ln w="12700">
            <a:solidFill>
              <a:srgbClr val="36C7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16152" y="24963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7DA"/>
                </a:solidFill>
              </a:rPr>
              <a:t>✓ What changed?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51560" y="3044952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2213C"/>
          </a:solidFill>
          <a:ln w="12700">
            <a:solidFill>
              <a:srgbClr val="9E66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16152" y="3118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7DA"/>
                </a:solidFill>
              </a:rPr>
              <a:t>✓ Who owns it?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366674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2213C"/>
          </a:solidFill>
          <a:ln w="12700">
            <a:solidFill>
              <a:srgbClr val="36C7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6152" y="37398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7DA"/>
                </a:solidFill>
              </a:rPr>
              <a:t>✓ Do tests pass?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51560" y="4288536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2213C"/>
          </a:solidFill>
          <a:ln w="12700">
            <a:solidFill>
              <a:srgbClr val="36C7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6152" y="43616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7DA"/>
                </a:solidFill>
              </a:rPr>
              <a:t>✓ Any security issue?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150876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06440" y="1508760"/>
            <a:ext cx="54864" cy="1207008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07608" y="1655064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CODEOWNERS helps route review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007608" y="2002536"/>
            <a:ext cx="49286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Files can have owners so changes are reviewed by the people responsible for that part of the project.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2999232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06440" y="2999232"/>
            <a:ext cx="54864" cy="1207008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07608" y="3145536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One reviewer is not always enough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007608" y="3493008"/>
            <a:ext cx="49286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Important code, deployment files, and security-sensitive areas may need more than one approval.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06440" y="4489704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2EE59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06440" y="4489704"/>
            <a:ext cx="54864" cy="1207008"/>
          </a:xfrm>
          <a:prstGeom prst="rect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07608" y="4636008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Review should be useful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007608" y="4983480"/>
            <a:ext cx="49286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A good review checks logic, readability, tests, security impact, and whether the change matches the assignment or issue.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GitHub Docs, “About CODEOWNERS,” “About protected branches,” and “Available rules for rulesets.”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digital_illustration_conceptual_cyb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#4: keep secrets out of code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Passwords, API keys, tokens, and private keys should not be sitting in source files.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627632"/>
            <a:ext cx="3657600" cy="3986784"/>
          </a:xfrm>
          <a:prstGeom prst="roundRect">
            <a:avLst>
              <a:gd name="adj" fmla="val 3000"/>
            </a:avLst>
          </a:prstGeom>
          <a:solidFill>
            <a:srgbClr val="071225">
              <a:alpha val="97000"/>
            </a:srgbClr>
          </a:solidFill>
          <a:ln w="12700">
            <a:solidFill>
              <a:srgbClr val="FF5C7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BFF"/>
                </a:solidFill>
              </a:rPr>
              <a:t>Do not commit: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24128" y="2487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B7C7DA"/>
                </a:solidFill>
              </a:rPr>
              <a:t>✕ database passwords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1024128" y="3017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B7C7DA"/>
                </a:solidFill>
              </a:rPr>
              <a:t>✕ personal access tokens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1024128" y="35478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B7C7DA"/>
                </a:solidFill>
              </a:rPr>
              <a:t>✕ private keys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024128" y="40782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B7C7DA"/>
                </a:solidFill>
              </a:rPr>
              <a:t>✕ .env files with real values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4846320" y="16459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2EE59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46320" y="1645920"/>
            <a:ext cx="54864" cy="1325880"/>
          </a:xfrm>
          <a:prstGeom prst="rect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47488" y="1792224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Use environment variables or secret stores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47488" y="2139696"/>
            <a:ext cx="27340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Real credentials should live outside the repo. The code can read them at runtime without exposing them in commits.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83880" y="16459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183880" y="1645920"/>
            <a:ext cx="54864" cy="1325880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85048" y="1792224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Turn on secret scanning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385048" y="2139696"/>
            <a:ext cx="27340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Secret scanning helps find credentials that are already in the repository history.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846320" y="3401568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46320" y="3401568"/>
            <a:ext cx="54864" cy="1325880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47488" y="354787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Use push protection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5047488" y="3895344"/>
            <a:ext cx="27340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Push protection can block a secret before it ever lands in the repository.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183880" y="3401568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FF5C7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83880" y="3401568"/>
            <a:ext cx="54864" cy="1325880"/>
          </a:xfrm>
          <a:prstGeom prst="rect">
            <a:avLst/>
          </a:prstGeom>
          <a:solidFill>
            <a:srgbClr val="FF5C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385048" y="354787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Rotate exposed secrets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8385048" y="3895344"/>
            <a:ext cx="27340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If a secret is committed, deleting the line is not enough. Rotate or revoke it.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GitHub Docs, “Secret scanning” and “Push protection.”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turistic_cyber_tech_dashboard_concept_scene_on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#5: scan code and dependencies early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scans are better when they catch problems before the code is merged.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157276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5800" y="1572768"/>
            <a:ext cx="54864" cy="1417320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86968" y="171907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Static/code scanning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86968" y="2066544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Code scanning looks for security problems and coding mistakes in the repository so they can be fixed earlier.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157276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2EE59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34840" y="1572768"/>
            <a:ext cx="54864" cy="1417320"/>
          </a:xfrm>
          <a:prstGeom prst="rect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36008" y="171907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Dependency updates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636008" y="2066544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Dependency tools can warn the team when a library has a known vulnerability and can open update pull requests.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83880" y="157276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83880" y="1572768"/>
            <a:ext cx="54864" cy="1417320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85048" y="171907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Security checks in the pull request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85048" y="2066544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When scans run in the PR, the team can fix issues before they become part of main.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97280" y="3977640"/>
            <a:ext cx="9966960" cy="1051560"/>
          </a:xfrm>
          <a:prstGeom prst="roundRect">
            <a:avLst>
              <a:gd name="adj" fmla="val 10435"/>
            </a:avLst>
          </a:prstGeom>
          <a:solidFill>
            <a:srgbClr val="071225">
              <a:alpha val="92000"/>
            </a:srgbClr>
          </a:solidFill>
          <a:ln w="12700">
            <a:solidFill>
              <a:srgbClr val="36C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417320" y="4315968"/>
            <a:ext cx="384048" cy="384048"/>
          </a:xfrm>
          <a:prstGeom prst="ellipse">
            <a:avLst/>
          </a:prstGeom>
          <a:solidFill>
            <a:srgbClr val="36C7FF">
              <a:alpha val="85000"/>
            </a:srgbClr>
          </a:solidFill>
          <a:ln w="12700">
            <a:solidFill>
              <a:srgbClr val="36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417320" y="43982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28800" y="43799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BFF"/>
                </a:solidFill>
              </a:rPr>
              <a:t>commit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441448" y="4507992"/>
            <a:ext cx="393192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026664" y="4315968"/>
            <a:ext cx="384048" cy="384048"/>
          </a:xfrm>
          <a:prstGeom prst="ellipse">
            <a:avLst/>
          </a:prstGeom>
          <a:solidFill>
            <a:srgbClr val="9E66FF">
              <a:alpha val="85000"/>
            </a:srgbClr>
          </a:solidFill>
          <a:ln w="12700">
            <a:solidFill>
              <a:srgbClr val="9E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026664" y="43982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38144" y="43799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BFF"/>
                </a:solidFill>
              </a:rPr>
              <a:t>build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050792" y="4507992"/>
            <a:ext cx="393192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36008" y="4315968"/>
            <a:ext cx="384048" cy="384048"/>
          </a:xfrm>
          <a:prstGeom prst="ellipse">
            <a:avLst/>
          </a:prstGeom>
          <a:solidFill>
            <a:srgbClr val="36C7FF">
              <a:alpha val="85000"/>
            </a:srgbClr>
          </a:solidFill>
          <a:ln w="12700">
            <a:solidFill>
              <a:srgbClr val="36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636008" y="43982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47488" y="43799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BFF"/>
                </a:solidFill>
              </a:rPr>
              <a:t>test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660136" y="4507992"/>
            <a:ext cx="393192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245352" y="4315968"/>
            <a:ext cx="384048" cy="384048"/>
          </a:xfrm>
          <a:prstGeom prst="ellipse">
            <a:avLst/>
          </a:prstGeom>
          <a:solidFill>
            <a:srgbClr val="9E66FF">
              <a:alpha val="85000"/>
            </a:srgbClr>
          </a:solidFill>
          <a:ln w="12700">
            <a:solidFill>
              <a:srgbClr val="9E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245352" y="43982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656832" y="43799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BFF"/>
                </a:solidFill>
              </a:rPr>
              <a:t>scan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269480" y="4507992"/>
            <a:ext cx="393192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854696" y="4315968"/>
            <a:ext cx="384048" cy="384048"/>
          </a:xfrm>
          <a:prstGeom prst="ellipse">
            <a:avLst/>
          </a:prstGeom>
          <a:solidFill>
            <a:srgbClr val="36C7FF">
              <a:alpha val="85000"/>
            </a:srgbClr>
          </a:solidFill>
          <a:ln w="12700">
            <a:solidFill>
              <a:srgbClr val="36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854696" y="43982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266176" y="43799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BFF"/>
                </a:solidFill>
              </a:rPr>
              <a:t>review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878824" y="4507992"/>
            <a:ext cx="393192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464040" y="4315968"/>
            <a:ext cx="384048" cy="384048"/>
          </a:xfrm>
          <a:prstGeom prst="ellipse">
            <a:avLst/>
          </a:prstGeom>
          <a:solidFill>
            <a:srgbClr val="9E66FF">
              <a:alpha val="85000"/>
            </a:srgbClr>
          </a:solidFill>
          <a:ln w="12700">
            <a:solidFill>
              <a:srgbClr val="9E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464040" y="43982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875520" y="43799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BFF"/>
                </a:solidFill>
              </a:rPr>
              <a:t>merge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GitHub Docs, “Code scanning” and “Dependabot security updates.”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#6: protect integrity and traceability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 repo should make changes easy to trace and harder to fake.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97280" y="2267712"/>
            <a:ext cx="512064" cy="512064"/>
          </a:xfrm>
          <a:prstGeom prst="ellipse">
            <a:avLst/>
          </a:prstGeom>
          <a:solidFill>
            <a:srgbClr val="36C7FF">
              <a:alpha val="90000"/>
            </a:srgbClr>
          </a:solidFill>
          <a:ln w="12700">
            <a:solidFill>
              <a:srgbClr val="F6FB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23682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B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B7C7DA"/>
                </a:solidFill>
              </a:rPr>
              <a:t>signed commits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1627632" y="2523744"/>
            <a:ext cx="1069848" cy="0"/>
          </a:xfrm>
          <a:prstGeom prst="line">
            <a:avLst/>
          </a:prstGeom>
          <a:noFill/>
          <a:ln w="2032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36392" y="2267712"/>
            <a:ext cx="512064" cy="512064"/>
          </a:xfrm>
          <a:prstGeom prst="ellipse">
            <a:avLst/>
          </a:prstGeom>
          <a:solidFill>
            <a:srgbClr val="9E66FF">
              <a:alpha val="90000"/>
            </a:srgbClr>
          </a:solidFill>
          <a:ln w="12700">
            <a:solidFill>
              <a:srgbClr val="F6FB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73552" y="23682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B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79192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B7C7DA"/>
                </a:solidFill>
              </a:rPr>
              <a:t>named accounts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666744" y="2523744"/>
            <a:ext cx="1069848" cy="0"/>
          </a:xfrm>
          <a:prstGeom prst="line">
            <a:avLst/>
          </a:prstGeom>
          <a:noFill/>
          <a:ln w="2032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75504" y="2267712"/>
            <a:ext cx="512064" cy="512064"/>
          </a:xfrm>
          <a:prstGeom prst="ellipse">
            <a:avLst/>
          </a:prstGeom>
          <a:solidFill>
            <a:srgbClr val="36C7FF">
              <a:alpha val="90000"/>
            </a:srgbClr>
          </a:solidFill>
          <a:ln w="12700">
            <a:solidFill>
              <a:srgbClr val="F6FB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12664" y="23682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B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8304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B7C7DA"/>
                </a:solidFill>
              </a:rPr>
              <a:t>clear messages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705856" y="2523744"/>
            <a:ext cx="1069848" cy="0"/>
          </a:xfrm>
          <a:prstGeom prst="line">
            <a:avLst/>
          </a:prstGeom>
          <a:noFill/>
          <a:ln w="2032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14616" y="2267712"/>
            <a:ext cx="512064" cy="512064"/>
          </a:xfrm>
          <a:prstGeom prst="ellipse">
            <a:avLst/>
          </a:prstGeom>
          <a:solidFill>
            <a:srgbClr val="9E66FF">
              <a:alpha val="90000"/>
            </a:srgbClr>
          </a:solidFill>
          <a:ln w="12700">
            <a:solidFill>
              <a:srgbClr val="F6FB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51776" y="23682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B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57416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B7C7DA"/>
                </a:solidFill>
              </a:rPr>
              <a:t>linked issues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744968" y="2523744"/>
            <a:ext cx="1069848" cy="0"/>
          </a:xfrm>
          <a:prstGeom prst="line">
            <a:avLst/>
          </a:prstGeom>
          <a:noFill/>
          <a:ln w="2032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53728" y="2267712"/>
            <a:ext cx="512064" cy="512064"/>
          </a:xfrm>
          <a:prstGeom prst="ellipse">
            <a:avLst/>
          </a:prstGeom>
          <a:solidFill>
            <a:srgbClr val="36C7FF">
              <a:alpha val="90000"/>
            </a:srgbClr>
          </a:solidFill>
          <a:ln w="12700">
            <a:solidFill>
              <a:srgbClr val="F6FB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90888" y="23682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B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96528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B7C7DA"/>
                </a:solidFill>
              </a:rPr>
              <a:t>auditable merges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68680" y="40690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54864" cy="1234440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69848" y="421538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Use commit signing when needed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69848" y="4562856"/>
            <a:ext cx="30083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Signed commits help prove that a commit came from a trusted identity instead of someone pretending to be that person.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40690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34840" y="4069080"/>
            <a:ext cx="54864" cy="1234440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36008" y="421538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Avoid shared accounts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636008" y="4562856"/>
            <a:ext cx="30083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If five people use one account, the history stops being useful. Every person should commit under their own identity.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01000" y="40690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2EE59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001000" y="4069080"/>
            <a:ext cx="54864" cy="1234440"/>
          </a:xfrm>
          <a:prstGeom prst="rect">
            <a:avLst/>
          </a:prstGeom>
          <a:solidFill>
            <a:srgbClr val="2EE5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02168" y="421538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Make history explain the work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202168" y="4562856"/>
            <a:ext cx="30083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Good commit messages, pull request descriptions, and linked issues make future troubleshooting easier.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NIST SSDF SP 800-218; GitHub Docs, “About rulesets.”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digital_illustration_3d_tech_conc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#7: monitor, audit, and respond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controls still need follow-up, because settings and people change over time.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" y="1572768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1572768"/>
            <a:ext cx="54864" cy="1371600"/>
          </a:xfrm>
          <a:prstGeom prst="rect">
            <a:avLst/>
          </a:prstGeom>
          <a:solidFill>
            <a:srgbClr val="36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78408" y="171907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Watch security alerts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78408" y="2066544"/>
            <a:ext cx="29169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Code scanning, secret scanning, and dependency alerts should be reviewed instead of ignored.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1572768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9E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80560" y="1572768"/>
            <a:ext cx="54864" cy="1371600"/>
          </a:xfrm>
          <a:prstGeom prst="rect">
            <a:avLst/>
          </a:prstGeom>
          <a:solidFill>
            <a:srgbClr val="9E6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81728" y="171907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Review logs and permissions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681728" y="2066544"/>
            <a:ext cx="29169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The team should know who changed settings, who merged to main, and who still has access.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83880" y="1572768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D1B34">
              <a:alpha val="96000"/>
            </a:srgbClr>
          </a:solidFill>
          <a:ln w="12700">
            <a:solidFill>
              <a:srgbClr val="FF5C7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83880" y="1572768"/>
            <a:ext cx="54864" cy="1371600"/>
          </a:xfrm>
          <a:prstGeom prst="rect">
            <a:avLst/>
          </a:prstGeom>
          <a:solidFill>
            <a:srgbClr val="FF5C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85048" y="171907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6FBFF"/>
                </a:solidFill>
              </a:rPr>
              <a:t>Have a response plan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85048" y="2066544"/>
            <a:ext cx="29169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C7DA"/>
                </a:solidFill>
              </a:rPr>
              <a:t>If a secret leaks or a bad change gets merged, the team should know how to revoke, revert, notify, and document it.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86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BFF"/>
                </a:solidFill>
              </a:rPr>
              <a:t>My basic incident loop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514600" y="4462272"/>
            <a:ext cx="384048" cy="384048"/>
          </a:xfrm>
          <a:prstGeom prst="ellipse">
            <a:avLst/>
          </a:prstGeom>
          <a:solidFill>
            <a:srgbClr val="36C7FF">
              <a:alpha val="85000"/>
            </a:srgbClr>
          </a:solidFill>
          <a:ln w="12700">
            <a:solidFill>
              <a:srgbClr val="36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514600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990088" y="4526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Detect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749040" y="4645152"/>
            <a:ext cx="457200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434840" y="4462272"/>
            <a:ext cx="384048" cy="384048"/>
          </a:xfrm>
          <a:prstGeom prst="ellipse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434840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10328" y="4526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Contain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669280" y="4645152"/>
            <a:ext cx="457200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355080" y="4462272"/>
            <a:ext cx="384048" cy="384048"/>
          </a:xfrm>
          <a:prstGeom prst="ellipse">
            <a:avLst/>
          </a:prstGeom>
          <a:solidFill>
            <a:srgbClr val="2EE59D">
              <a:alpha val="85000"/>
            </a:srgbClr>
          </a:solidFill>
          <a:ln w="12700">
            <a:solidFill>
              <a:srgbClr val="2EE5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355080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30568" y="4526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Fix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589520" y="4645152"/>
            <a:ext cx="457200" cy="0"/>
          </a:xfrm>
          <a:prstGeom prst="line">
            <a:avLst/>
          </a:prstGeom>
          <a:noFill/>
          <a:ln w="17780">
            <a:solidFill>
              <a:srgbClr val="36C7FF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275320" y="4462272"/>
            <a:ext cx="384048" cy="384048"/>
          </a:xfrm>
          <a:prstGeom prst="ellipse">
            <a:avLst/>
          </a:prstGeom>
          <a:solidFill>
            <a:srgbClr val="9E66FF">
              <a:alpha val="85000"/>
            </a:srgbClr>
          </a:solidFill>
          <a:ln w="12700">
            <a:solidFill>
              <a:srgbClr val="9E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75320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BFF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750808" y="4526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</a:rPr>
              <a:t>Review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Sources: GitHub Docs, “GitHub security features”; CISA Secure by Design.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turistic_cyber_tech_dashboard_concept_scene_on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5">
              <a:alpha val="3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7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E66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114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checklist and sources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1208" y="1124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simple: protect the code without blocking teamwork.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1627632"/>
            <a:ext cx="5074920" cy="4105656"/>
          </a:xfrm>
          <a:prstGeom prst="roundRect">
            <a:avLst>
              <a:gd name="adj" fmla="val 2673"/>
            </a:avLst>
          </a:prstGeom>
          <a:solidFill>
            <a:srgbClr val="071225">
              <a:alpha val="96000"/>
            </a:srgbClr>
          </a:solidFill>
          <a:ln w="12700">
            <a:solidFill>
              <a:srgbClr val="2EE59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6FBFF"/>
                </a:solidFill>
              </a:rPr>
              <a:t>My security checklist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87552" y="22677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Use least privilege and MFA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987552" y="2624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Protect main with rulesets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987552" y="29809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Require pull requests and reviews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987552" y="33375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Use CODEOWNERS for sensitive areas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987552" y="3694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Block secrets before they are pushed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987552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Scan code and dependencies</a:t>
            </a:r>
            <a:endParaRPr lang="en-US" sz="1130" dirty="0"/>
          </a:p>
        </p:txBody>
      </p:sp>
      <p:sp>
        <p:nvSpPr>
          <p:cNvPr id="16" name="Text 13"/>
          <p:cNvSpPr/>
          <p:nvPr/>
        </p:nvSpPr>
        <p:spPr>
          <a:xfrm>
            <a:off x="987552" y="44074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Use clear history and signed commits</a:t>
            </a:r>
            <a:endParaRPr lang="en-US" sz="1130" dirty="0"/>
          </a:p>
        </p:txBody>
      </p:sp>
      <p:sp>
        <p:nvSpPr>
          <p:cNvPr id="17" name="Text 14"/>
          <p:cNvSpPr/>
          <p:nvPr/>
        </p:nvSpPr>
        <p:spPr>
          <a:xfrm>
            <a:off x="987552" y="47640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7C7DA"/>
                </a:solidFill>
              </a:rPr>
              <a:t>✓ Review alerts, access, and logs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6144768" y="1627632"/>
            <a:ext cx="5394960" cy="4105656"/>
          </a:xfrm>
          <a:prstGeom prst="roundRect">
            <a:avLst>
              <a:gd name="adj" fmla="val 2673"/>
            </a:avLst>
          </a:prstGeom>
          <a:solidFill>
            <a:srgbClr val="071225">
              <a:alpha val="96000"/>
            </a:srgbClr>
          </a:solidFill>
          <a:ln w="12700">
            <a:solidFill>
              <a:srgbClr val="36C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4652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6FBFF"/>
                </a:solidFill>
              </a:rPr>
              <a:t>Sources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446520" y="23042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7C7DA"/>
                </a:solidFill>
              </a:rPr>
              <a:t>• NIST SP 800-218, Secure Software Development Framework (SSDF), Version 1.1 </a:t>
            </a:r>
            <a:r>
              <a:rPr lang="en-US" sz="1060" dirty="0">
                <a:solidFill>
                  <a:srgbClr val="B7C7DA"/>
                </a:solidFill>
                <a:hlinkClick r:id="rId4"/>
              </a:rPr>
              <a:t>https://csrc.nist.gov/pubs/sp/800/218/final</a:t>
            </a:r>
            <a:endParaRPr lang="en-US" sz="1060" dirty="0"/>
          </a:p>
        </p:txBody>
      </p:sp>
      <p:sp>
        <p:nvSpPr>
          <p:cNvPr id="21" name="Text 18"/>
          <p:cNvSpPr/>
          <p:nvPr/>
        </p:nvSpPr>
        <p:spPr>
          <a:xfrm>
            <a:off x="6446520" y="28163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7C7DA"/>
                </a:solidFill>
              </a:rPr>
              <a:t>• CISA, Secure by Design guidance  </a:t>
            </a:r>
            <a:r>
              <a:rPr lang="en-US" sz="1060" dirty="0">
                <a:solidFill>
                  <a:srgbClr val="B7C7DA"/>
                </a:solidFill>
                <a:hlinkClick r:id="rId5"/>
              </a:rPr>
              <a:t>https://www.cisa.gov/securebydesign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6446520" y="332841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7C7DA"/>
                </a:solidFill>
              </a:rPr>
              <a:t>• GitHub Docs: protected branches, rulesets, and CODEOWNERS </a:t>
            </a:r>
            <a:r>
              <a:rPr lang="en-US" sz="1060" dirty="0">
                <a:solidFill>
                  <a:srgbClr val="B7C7DA"/>
                </a:solidFill>
                <a:hlinkClick r:id="rId6"/>
              </a:rPr>
              <a:t>https://docs.github.com/en/repositories/configuring-branches-and-merges-in-your-repository/managing-protected-branches/managing-a-branch-protection-rule</a:t>
            </a:r>
            <a:endParaRPr lang="en-US" sz="1060" dirty="0"/>
          </a:p>
        </p:txBody>
      </p:sp>
      <p:sp>
        <p:nvSpPr>
          <p:cNvPr id="23" name="Text 20"/>
          <p:cNvSpPr/>
          <p:nvPr/>
        </p:nvSpPr>
        <p:spPr>
          <a:xfrm>
            <a:off x="6446520" y="38404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7C7DA"/>
                </a:solidFill>
              </a:rPr>
              <a:t>• GitHub Docs: secret scanning and push protection </a:t>
            </a:r>
            <a:r>
              <a:rPr lang="en-US" sz="1060" dirty="0">
                <a:solidFill>
                  <a:srgbClr val="B7C7DA"/>
                </a:solidFill>
                <a:hlinkClick r:id="rId7"/>
              </a:rPr>
              <a:t>https://docs.github.com/en/code-security/concepts/secret-security/push-protection</a:t>
            </a:r>
            <a:endParaRPr lang="en-US" sz="1060" dirty="0"/>
          </a:p>
        </p:txBody>
      </p:sp>
      <p:sp>
        <p:nvSpPr>
          <p:cNvPr id="24" name="Text 21"/>
          <p:cNvSpPr/>
          <p:nvPr/>
        </p:nvSpPr>
        <p:spPr>
          <a:xfrm>
            <a:off x="6446520" y="435254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7C7DA"/>
                </a:solidFill>
              </a:rPr>
              <a:t>• GitHub Docs: code scanning and Dependabot security updates </a:t>
            </a:r>
            <a:r>
              <a:rPr lang="en-US" sz="1060" dirty="0">
                <a:solidFill>
                  <a:srgbClr val="B7C7DA"/>
                </a:solidFill>
                <a:hlinkClick r:id="rId8"/>
              </a:rPr>
              <a:t>https://docs.github.com/en/code-security/concepts/supply-chain-security/dependabot-security-updates</a:t>
            </a:r>
            <a:endParaRPr lang="en-US" sz="1060" dirty="0"/>
          </a:p>
        </p:txBody>
      </p:sp>
      <p:sp>
        <p:nvSpPr>
          <p:cNvPr id="25" name="Text 22"/>
          <p:cNvSpPr/>
          <p:nvPr/>
        </p:nvSpPr>
        <p:spPr>
          <a:xfrm>
            <a:off x="6446520" y="5230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BFF"/>
                </a:solidFill>
              </a:rPr>
              <a:t>Repository URL: </a:t>
            </a:r>
            <a:r>
              <a:rPr lang="en-US" sz="1050" b="1" dirty="0">
                <a:solidFill>
                  <a:srgbClr val="F6FBFF"/>
                </a:solidFill>
                <a:hlinkClick r:id="rId9"/>
              </a:rPr>
              <a:t>https://github.com/Panda-Alex21687/CSD380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CA8C6"/>
                </a:solidFill>
              </a:rPr>
              <a:t>Full web citations were researched from official NIST, CISA, and GitHub documentation.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1523</Words>
  <Application>Microsoft Macintosh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Bellevue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Controls in Shared Source Code Repositories</dc:title>
  <dc:subject>Security Controls in Shared Source Code Repositories</dc:subject>
  <dc:creator>Alex Baldree</dc:creator>
  <cp:lastModifiedBy>Alexander Baldree</cp:lastModifiedBy>
  <cp:revision>4</cp:revision>
  <dcterms:created xsi:type="dcterms:W3CDTF">2026-07-24T04:52:53Z</dcterms:created>
  <dcterms:modified xsi:type="dcterms:W3CDTF">2026-07-24T05:04:08Z</dcterms:modified>
</cp:coreProperties>
</file>